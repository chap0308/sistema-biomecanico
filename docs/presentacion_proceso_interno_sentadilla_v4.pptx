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Visibilidad por punto · repetición 3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Visibilidad media</c:v>
                </c:pt>
              </c:strCache>
            </c:strRef>
          </c:tx>
          <c:spPr>
            <a:solidFill>
              <a:srgbClr val="0B6B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Hombro I</c:v>
                  </c:pt>
                  <c:pt idx="1">
                    <c:v>Hombro D</c:v>
                  </c:pt>
                  <c:pt idx="2">
                    <c:v>Cadera I</c:v>
                  </c:pt>
                  <c:pt idx="3">
                    <c:v>Cadera D</c:v>
                  </c:pt>
                  <c:pt idx="4">
                    <c:v>Rodilla I</c:v>
                  </c:pt>
                  <c:pt idx="5">
                    <c:v>Rodilla D</c:v>
                  </c:pt>
                  <c:pt idx="6">
                    <c:v>Tobillo I</c:v>
                  </c:pt>
                  <c:pt idx="7">
                    <c:v>Tobillo D</c:v>
                  </c:pt>
                  <c:pt idx="8">
                    <c:v>Talón I</c:v>
                  </c:pt>
                  <c:pt idx="9">
                    <c:v>Talón D</c:v>
                  </c:pt>
                  <c:pt idx="10">
                    <c:v>Punta I</c:v>
                  </c:pt>
                  <c:pt idx="11">
                    <c:v>Punta D</c:v>
                  </c:pt>
                  <c:pt idx="12">
                    <c:v>Nariz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0.9999</c:v>
                </c:pt>
                <c:pt idx="2">
                  <c:v>0.9999</c:v>
                </c:pt>
                <c:pt idx="3">
                  <c:v>0.9998</c:v>
                </c:pt>
                <c:pt idx="4">
                  <c:v>0.9939</c:v>
                </c:pt>
                <c:pt idx="5">
                  <c:v>0.9923</c:v>
                </c:pt>
                <c:pt idx="6">
                  <c:v>0.9885</c:v>
                </c:pt>
                <c:pt idx="7">
                  <c:v>0.9764</c:v>
                </c:pt>
                <c:pt idx="8">
                  <c:v>0.9134</c:v>
                </c:pt>
                <c:pt idx="9">
                  <c:v>0.9069</c:v>
                </c:pt>
                <c:pt idx="10">
                  <c:v>0.982</c:v>
                </c:pt>
                <c:pt idx="11">
                  <c:v>0.9593</c:v>
                </c:pt>
                <c:pt idx="1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la tesis como una cadena de medición y no como un simple detector visual. La pregunta que guiará toda la exposición es: ¿cómo llegó el sistema a esa clasificación?
Fuentes y evidencia:
- D:/sistema-biomecanico/data/sentadilla_bilateral/outputs/dev_valgo_izq_002/peak_rep_3.png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Reconocer un movimiento notorio puede ser simple. La contribución técnica aparece al definir referencias, controlar calidad, localizar la ejecución, calcular una magnitud comparable y conservar la evidencia.
Fuentes y evidencia:
- Guion técnico del sistema; alcance aprobado de la tesis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de izquierda a derecha. No atribuya a OpenCV la validación de pose ni a la interfaz el cálculo biomecánico. SciPy es una referencia conceptual para prominencia, pero el pipeline actual no lo invoca directamente.
Fuentes y evidencia:
- D:/sistema-biomecanico/docs/diagramas/presentacion/fases_2_5_sentadilla.drawio
- D:/sistema-biomecanico/docs/diagramas/presentacion/fases_2_5_sentadilla.mmd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MediaPipe entrega datos numéricos, no un informe terminado. OpenCV crea el overlay y el pixelado; Matplotlib representa series; openpyxl compone los instrumentos y libros normalizados; FFmpeg garantiza compatibilidad web.
Fuentes y evidencia:
- D:/sistema-biomecanico/docs/analisis_caso_dev_valgo_izq_002_fases_2_5.md
- src/squat/pose_video.py
- src/squat/evidence.py
- src/squat/exports.py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resuelve la ambigüedad entre fotogramas y puntos anatómicos. OpenCV solo confirma lectura; la regla de calidad trabaja sobre las salidas de MediaPipe.
Fuentes y evidencia:
- D:/sistema-biomecanico/docs/explicacion_ajuste_indicador_puntos_anatomicos.md
- D:/sistema-biomecanico/docs/analisis_caso_dev_valgo_izq_002_fases_2_5.md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Mencione que nariz, talones y puntas del pie aportan información, pero la validez central exige hombros, caderas, rodillas y tobillos. También se exige una referencia distal por pie.
Fuentes y evidencia:
- D:/sistema-biomecanico/data/sentadilla_bilateral/outputs/dev_valgo_izq_002/peak_rep_3.png
- D:/sistema-biomecanico/data/sentadilla_bilateral/outputs/dev_valgo_izq_002/frame_quality.csv
- D:/sistema-biomecanico/data/sentadilla_bilateral/outputs/dev_valgo_izq_002/landmarks.csv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que cada fila es una observación primaria de MediaPipe. El total general es fotogramas con pose multiplicado por 13; si un fotograma no contiene pose, no se escriben sus 13 filas. x e y están normalizadas respecto del ancho y alto de la imagen.
Fuentes y evidencia:
- D:/sistema-biomecanico/data/sentadilla_bilateral/outputs/dev_valgo_izq_002/landmarks.csv
- src/squat/pose_video.py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atribuya esta decisión a OpenCV. OpenCV aporta el fotograma decodificado; MediaPipe entrega pose y visibilidad; la regla del sistema construye valid_for_analysis. La visibilidad crítica mínima es un mínimo, no una media.
Fuentes y evidencia:
- D:/sistema-biomecanico/data/sentadilla_bilateral/outputs/dev_valgo_izq_002/frame_quality.csv
- src/squat/pose_video.py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processed_frames se incrementa únicamente cuando VideoCapture.read devuelve un fotograma decodificado. valid_frames suma la decisión binaria por fotograma. mean_detected_keypoints resume cuántos de los 13 puntos superan el umbral de visibilidad, pero un promedio alto no garantiza por sí solo que estén disponibles todas las referencias obligatorias.
Fuentes y evidencia:
- D:/sistema-biomecanico/data/sentadilla_bilateral/outputs/dev_valgo_izq_002/pose_summary.json
- src/squat/pose_video.py
- src/squat/quality_gate.py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web, Disponibilidad de pose por fotograma se alimenta de frame_quality.csv. Visibilidad por punto anatómico se deriva de landmarks.csv dentro del intervalo de la repetición seleccionada. La gráfica derecha resume la visibilidad media de la repetición 3; la cobertura fue 100 % para los 13 puntos en este caso.
Fuentes y evidencia:
- D:/sistema-biomecanico/data/sentadilla_bilateral/outputs/dev_valgo_izq_002/pose_quality.png
- D:/sistema-biomecanico/data/sentadilla_bilateral/outputs/dev_valgo_izq_002/frame_quality.csv
- D:/sistema-biomecanico/data/sentadilla_bilateral/outputs/dev_valgo_izq_002/landmarks.csv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señal es una posición vertical normalizada, no fuerza ni ángulo. La portada abre un clip de 14 segundos construido con los datos reales de frame_phases.csv.
Fuentes y evidencia:
- D:/sistema-biomecanico/data/sentadilla_bilateral/outputs/dev_valgo_izq_002/rep_03_inicio_descenso.png
- D:/sistema-biomecanico/data/sentadilla_bilateral/outputs/dev_valgo_izq_002/rep_03_maxima_profundidad.png
- D:/sistema-biomecanico/docs/assets/presentacion_sentadilla/hyperframes_senal_caderas/senal_caderas_animada.mp4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 explique el concepto general. Después contraste: la interpolación temporal preserva continuidad de hip_midpoint_y; la espacial construye una referencia geométrica en máxima profundidad. La temporal no valida el fotograma ni sustituye los landmarks biomecánicos.
Fuentes y evidencia:
- D:/sistema-biomecanico/docs/analisis_caso_dev_valgo_izq_002_fases_2_5.md
- pandas Series.interpolate
- src/squat/biomechanics.py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mediana reduce estimaciones atípicas y el promedio reduce pequeñas variaciones restantes. center=True asigna el resultado al fotograma central. Cada fotograma repite el procedimiento y la sucesión forma la curva suavizada.
Fuentes y evidencia:
- D:/sistema-biomecanico/docs/assets/segmentacion_sentadilla/01_limpieza_interpolacion_suavizado.png
- D:/sistema-biomecanico/data/sentadilla_bilateral/outputs/dev_valgo_izq_002/frame_phases.csv
- pandas rolling median y rolling mean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la figura para los datos reales y el clip para el concepto. En el caso conductor: rango robusto 0.17472; mínimo 0.03145; prominencias aceptadas 0.06266, 0.06623 y 0.08787.
Fuentes y evidencia:
- D:/sistema-biomecanico/docs/assets/segmentacion_sentadilla/02_prominencia_picos_reales.png
- D:/sistema-biomecanico/docs/assets/presentacion_sentadilla/hyperframes_segmentacion/segmentacion_prominencia_recuperacion.mp4
- SciPy find_peaks y peak_prominences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ejemplo más útil para demostrar que la segmentación no depende solo del tiempo. Explique el error anterior de cuatro repeticiones y la corrección actual.
Fuentes y evidencia:
- D:/sistema-biomecanico/docs/assets/segmentacion_sentadilla/03_error_doble_pico_recuperacion.png
- D:/sistema-biomecanico/docs/validacion_casos_limite_segmentacion_temporal.md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la conexión con la web: al seleccionar cada evento, el video se posiciona en el mismo fotograma. La repetición 3 va del fotograma 474 al 621.
Fuentes y evidencia:
- D:/sistema-biomecanico/data/sentadilla_bilateral/outputs/dev_valgo_izq_002/rep_03_inicio_descenso.png
- D:/sistema-biomecanico/data/sentadilla_bilateral/outputs/dev_valgo_izq_002/rep_03_maxima_profundidad.png
- D:/sistema-biomecanico/data/sentadilla_bilateral/outputs/dev_valgo_izq_002/rep_03_final_ascenso.png
- D:/sistema-biomecanico/data/sentadilla_bilateral/outputs/dev_valgo_izq_002/repetitions.csv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por qué se usa una mediana: reduce el efecto de un fotograma inicial atípico. W0 se aplica a pelvis y rodillas, no al ángulo del tronco.
Fuentes y evidencia:
- D:/sistema-biomecanico/data/sentadilla_bilateral/outputs/dev_valgo_izq_002/rep_03_inicio_descenso.png
- D:/sistema-biomecanico/data/sentadilla_bilateral/outputs/dev_valgo_izq_002/biomechanical_summary.json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diferencia de unidades no es inconsistencia: responde a dos objetos geométricos distintos. El tronco mide orientación; la pelvis, traslación.
Fuentes y evidencia:
- D:/sistema-biomecanico/docs/analisis_caso_dev_valgo_izq_002_fases_2_5.md
- D:/sistema-biomecanico/data/sentadilla_bilateral/outputs/dev_valgo_izq_002/biomechanical_repetition_metrics.csv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que esta interpolación es espacial. La imagen enlaza un clip de 26 segundos que construye W0, tronco, pelvis, ambas rodillas y diferencia bilateral con datos reales.
Fuentes y evidencia:
- D:/sistema-biomecanico/data/sentadilla_bilateral/outputs/dev_valgo_izq_002/peak_rep_3.png
- D:/sistema-biomecanico/data/sentadilla_bilateral/outputs/dev_valgo_izq_002/biomechanical_frame_metrics.csv
- D:/sistema-biomecanico/docs/assets/presentacion_sentadilla/hyperframes_geometria_variables/construccion_geometrica_variables.mp4
- D:/sistema-biomecanico/docs/analisis_caso_dev_valgo_izq_002_fases_2_5.md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Evite presentar los umbrales como clínicos. Esta fase traduce una medición a un estado interpretable y conserva la evidencia que permite revisar la decisión.
Fuentes y evidencia:
- D:/sistema-biomecanico/data/sentadilla_bilateral/outputs/dev_valgo_izq_002/rule_evidence.csv
- D:/sistema-biomecanico/data/sentadilla_bilateral/outputs/dev_valgo_izq_002/findings.json
- D:/sistema-biomecanico/data/sentadilla_bilateral/outputs/dev_valgo_izq_002/quality_gate_summary.json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demostración debe durar entre dos y tres minutos. No recorra toda la página: siga los cinco pasos y use siempre la repetición 3 para mantener continuidad narrativa.
Fuentes y evidencia:
- D:/sistema-biomecanico/docs/assets/presentacion_sentadilla/web_resumen_caso.png
- D:/sistema-biomecanico/docs/assets/presentacion_sentadilla/web_trazabilidad_caso.png
- Aplicación web /cases/[caseId]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la exposición delimitando el alcance. El sistema no sustituye una evaluación clínica; aporta medición observable, trazabilidad y una base reproducible para contrastar con expertos.
Fuentes y evidencia:
- Plantilla del proyecto de tesis; matriz de operacionalización; protocolo de evaluación experta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2881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ANÁLISIS DE SENTADILLA BILATERAL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hyperlink" Target="file:///D:/sistema-biomecanico/docs/assets/presentacion_sentadilla/hyperframes_senal_caderas/senal_caderas_animada.mp4" TargetMode="External"/><Relationship Id="rId5" Type="http://schemas.openxmlformats.org/officeDocument/2006/relationships/hyperlink" Target="file:///D:/sistema-biomecanico/docs/assets/presentacion_sentadilla/hyperframes_senal_caderas/senal_caderas_animada.mp4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file:///D:/sistema-biomecanico/docs/assets/presentacion_sentadilla/hyperframes_segmentacion/segmentacion_prominencia_recuperacion.mp4" TargetMode="External"/><Relationship Id="rId4" Type="http://schemas.openxmlformats.org/officeDocument/2006/relationships/hyperlink" Target="file:///D:/sistema-biomecanico/docs/assets/presentacion_sentadilla/hyperframes_segmentacion/segmentacion_prominencia_recuperacion.mp4" TargetMode="External"/><Relationship Id="rId5" Type="http://schemas.openxmlformats.org/officeDocument/2006/relationships/hyperlink" Target="file:///D:/sistema-biomecanico/docs/assets/presentacion_sentadilla/hyperframes_segmentacion/segmentacion_prominencia_recuperacion.mp4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file:///D:/sistema-biomecanico/docs/assets/presentacion_sentadilla/hyperframes_geometria_variables/construccion_geometrica_variables.mp4" TargetMode="Externa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pic>
        <p:nvPicPr>
          <p:cNvPr id="3" name="Image 0" descr="D:/sistema-biomecanico/data/sentadilla_bilateral/outputs/dev_valgo_izq_002/peak_rep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502920"/>
            <a:ext cx="3822192" cy="5852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49808"/>
            <a:ext cx="0" cy="5029200"/>
          </a:xfrm>
          <a:prstGeom prst="line">
            <a:avLst/>
          </a:prstGeom>
          <a:noFill/>
          <a:ln w="63500">
            <a:solidFill>
              <a:srgbClr val="E76F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078992"/>
            <a:ext cx="5989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VIDEO A UNA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 AUDITABLE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58952" y="3127248"/>
            <a:ext cx="5897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Visión por computadora para analizar compensaciones observables durante la sentadilla bilateral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77240" y="466344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9F0EC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4727448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2D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148840" y="466344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FF0C7"/>
          </a:solidFill>
          <a:ln w="12700">
            <a:solidFill>
              <a:srgbClr val="D88B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21992" y="4727448"/>
            <a:ext cx="1545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005072" y="4663440"/>
            <a:ext cx="1444752" cy="310896"/>
          </a:xfrm>
          <a:prstGeom prst="roundRect">
            <a:avLst>
              <a:gd name="adj" fmla="val 23529"/>
            </a:avLst>
          </a:prstGeom>
          <a:solidFill>
            <a:srgbClr val="E8E4F7"/>
          </a:solidFill>
          <a:ln w="12700">
            <a:solidFill>
              <a:srgbClr val="6657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8224" y="4727448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GEOMETRÍA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7240" y="57150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Elias Chapoñan · Lima Sur,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Observar no equivale a medir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utilidad del sistema está en cuantificar, repetir y dejar evidencia de la decisión.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6A5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84632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6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82396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46120" y="2651760"/>
            <a:ext cx="1435608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69480" y="2651760"/>
            <a:ext cx="1399032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32918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1EFEA"/>
          </a:solidFill>
          <a:ln w="15240">
            <a:solidFill>
              <a:srgbClr val="96A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“El tronco se inclinó”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6968" y="414223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Reconocimiento visual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32918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D9F0EC"/>
          </a:solidFill>
          <a:ln w="15240">
            <a:solidFill>
              <a:srgbClr val="0B6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12.38° hacia la izquierda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0328" y="414223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Magnitud y dirección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0" y="32918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E2D8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1392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 + fórmula + regla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87968" y="414223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reproducible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reto no es notar un patrón evidente; es convertirlo en una medición consistente y defendible.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transformaciones, una misma evidencia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tecnología tiene una responsabilidad delimitada dentro del flujo.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7F1E8"/>
          </a:solidFill>
          <a:ln w="17780">
            <a:solidFill>
              <a:srgbClr val="123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264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MP4 frontal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0" y="2889504"/>
            <a:ext cx="21031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3172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4144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Decodifica fotogramas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2889504"/>
            <a:ext cx="25603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0624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MediaPipe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1596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+ visibilidad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15000" y="2889504"/>
            <a:ext cx="30175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0C7"/>
          </a:solidFill>
          <a:ln w="17780">
            <a:solidFill>
              <a:srgbClr val="D88B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3620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del sistema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635240" y="2889504"/>
            <a:ext cx="34747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9244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E8E4F7"/>
          </a:solidFill>
          <a:ln w="17780">
            <a:solidFill>
              <a:srgbClr val="6657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216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y geometría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0216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· NumPy · Python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601200" y="2889504"/>
            <a:ext cx="30175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12680" y="233172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E2D8"/>
          </a:solidFill>
          <a:ln w="1778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22408" y="245973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122408" y="2724912"/>
            <a:ext cx="1426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· Next.js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34440" y="4069080"/>
            <a:ext cx="9738360" cy="1078992"/>
          </a:xfrm>
          <a:prstGeom prst="roundRect">
            <a:avLst>
              <a:gd name="adj" fmla="val 6780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4407408"/>
            <a:ext cx="9098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web no recalcula la biomecánica: presenta y sincroniza los artefactos producidos por el pipeline.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85800" y="571500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585216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arquitectura separa decodificación, estimación, decisión de calidad, medición e interpretación.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DE EVIDENCIA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resultados no aparecen por arte de magia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canónicos se transforman en productos visuales y tabulares sin alterar la evidencia original.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551176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MediaPipe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5528" y="2816352"/>
            <a:ext cx="1837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coordenadas · visibilidad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37560" y="242316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0C7"/>
          </a:solidFill>
          <a:ln w="17780">
            <a:solidFill>
              <a:srgbClr val="D88B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2551176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/ JSON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47288" y="2816352"/>
            <a:ext cx="18379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canónica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61488" y="3108960"/>
            <a:ext cx="48463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72200" y="187452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E2D8"/>
          </a:solidFill>
          <a:ln w="1778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 + FFmpeg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81928" y="2267712"/>
            <a:ext cx="1975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overlays · capturas · MP4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823960" y="187452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8E4F7"/>
          </a:solidFill>
          <a:ln w="17780">
            <a:solidFill>
              <a:srgbClr val="6657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33688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933688" y="2267712"/>
            <a:ext cx="1975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gráficas PNG / PDF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72200" y="379476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392277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openpyxl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81928" y="4187952"/>
            <a:ext cx="1975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tablas XLSX normalizadas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823960" y="379476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E2D8"/>
          </a:solidFill>
          <a:ln w="1778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33688" y="392277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/ Next.js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33688" y="4187952"/>
            <a:ext cx="19751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publicación y exploración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13248" y="3108960"/>
            <a:ext cx="5029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6168" y="2487168"/>
            <a:ext cx="0" cy="192024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16168" y="2487168"/>
            <a:ext cx="16459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16168" y="4407408"/>
            <a:ext cx="16459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" y="571500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" y="585216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MP4, PNG y XLSX son derivados auditables; los CSV y JSON permiten reproducir el cálculo.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· CALIDAD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niveles que no deben confundirse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 decodificado, pose válida y repetición válida son decisiones diferentes.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1EFEA"/>
          </a:solidFill>
          <a:ln w="19050">
            <a:solidFill>
              <a:srgbClr val="96A5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96A5A8"/>
          </a:solidFill>
          <a:ln w="12700">
            <a:solidFill>
              <a:srgbClr val="96A5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6829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OpenCV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¿Pudo leer el fotograma?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6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procesados = decodificados / declarados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0" y="3429000"/>
            <a:ext cx="292608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201168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D9F0EC"/>
          </a:solidFill>
          <a:ln w="19050">
            <a:solidFill>
              <a:srgbClr val="0B6B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240280"/>
            <a:ext cx="502920" cy="502920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6829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MediaPipe + regla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¿Hay referencias anatómicas utilizables?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40690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válidos = pose válida / decodificados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55280" y="3429000"/>
            <a:ext cx="292608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21040" y="201168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FE2D8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2240280"/>
            <a:ext cx="502920" cy="5029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36829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8972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Segmentación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4964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intervalo y el pico son analizables?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0" y="40690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repetición válida = válidos del intervalo / total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global recomendada: al menos 95 % de los fotogramas decodificados deben tener pose válida.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· POSE 2D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33 puntos a 13 referencias útiles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selección reduce el modelo a las referencias necesarias para el análisis frontal.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peak_rep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35" y="1874520"/>
            <a:ext cx="231397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2029968"/>
            <a:ext cx="932688" cy="932688"/>
          </a:xfrm>
          <a:prstGeom prst="ellipse">
            <a:avLst/>
          </a:prstGeom>
          <a:solidFill>
            <a:srgbClr val="F1EFEA"/>
          </a:solidFill>
          <a:ln w="25400">
            <a:solidFill>
              <a:srgbClr val="96A5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0" y="225856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96A5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016752" y="22768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estimados por MediaPipe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21808" y="2971800"/>
            <a:ext cx="0" cy="9144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846320" y="3081528"/>
            <a:ext cx="932688" cy="932688"/>
          </a:xfrm>
          <a:prstGeom prst="ellipse">
            <a:avLst/>
          </a:prstGeom>
          <a:solidFill>
            <a:srgbClr val="D9F0EC"/>
          </a:solidFill>
          <a:ln w="25400">
            <a:solidFill>
              <a:srgbClr val="0B6B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331012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6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016752" y="33284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conservados por el sistema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321808" y="4023360"/>
            <a:ext cx="0" cy="9144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46320" y="4133088"/>
            <a:ext cx="932688" cy="932688"/>
          </a:xfrm>
          <a:prstGeom prst="ellipse">
            <a:avLst/>
          </a:prstGeom>
          <a:solidFill>
            <a:srgbClr val="FFE2D8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436168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016752" y="43799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 centrales críticas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915400" y="2011680"/>
            <a:ext cx="2514600" cy="3154680"/>
          </a:xfrm>
          <a:prstGeom prst="roundRect">
            <a:avLst>
              <a:gd name="adj" fmla="val 2909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89720" y="2331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punto es utilizable si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89720" y="2971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0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 e y son finitas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189720" y="34747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89720" y="39319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visibilidad ≥ 0.50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85800" y="571500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585216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visibilidad crítica mínima es el menor valor entre los 8 puntos centrales; no es un promedio.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· DATOS PRIMARIOS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MediaPipe entrega una fila por punto y fotograma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landmarks.csv conserva coordenadas normalizadas, profundidad relativa y visibilidad antes de cualquier resumen.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7635240" cy="352044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1417320"/>
                <a:gridCol w="960120"/>
                <a:gridCol w="960120"/>
                <a:gridCol w="960120"/>
                <a:gridCol w="1143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Frame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Tiempo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Punto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Visibilidad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 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Hombro izq.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0.3517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0.0349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0.999998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 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Cadera der.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0.4414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0.5761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0.999964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9.485 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Rodilla izq.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0.6308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0.7432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0.994689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9.485 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Tobillo der.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0.4097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0.8541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0.2557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0.989488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24.628 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Hombro izq.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0.6948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0.6358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-0.8655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0.999985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24.628 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Rodilla izq.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0.5444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0.8130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-0.8161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0.989900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1965960"/>
            <a:ext cx="2971800" cy="3401568"/>
          </a:xfrm>
          <a:prstGeom prst="roundRect">
            <a:avLst>
              <a:gd name="adj" fmla="val 2462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51392" y="228600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COORDENADAS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887968" y="28163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0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372600" y="277063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= borde izquierdo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borde derecho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87968" y="36301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E2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372600" y="358444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= borde superior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borde inferior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87968" y="444398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E4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372600" y="44074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profundidad relativa;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entra en las fórmulas 2D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" y="5742432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5879592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este caso: 662 fotogramas con pose × 13 puntos seleccionados = 8 606 filas.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· DECISIÓN POR FOTOGRAMA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frame_quality.csv resume si la pose puede analizarse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fila condensa los 13 puntos seleccionados en una decisión reproducible para un fotograma.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993392"/>
          <a:ext cx="6400800" cy="2514600"/>
        </p:xfrm>
        <a:graphic>
          <a:graphicData uri="http://schemas.openxmlformats.org/drawingml/2006/table">
            <a:tbl>
              <a:tblPr/>
              <a:tblGrid>
                <a:gridCol w="731520"/>
                <a:gridCol w="960120"/>
                <a:gridCol w="731520"/>
                <a:gridCol w="731520"/>
                <a:gridCol w="960120"/>
                <a:gridCol w="1417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Tiempo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Válido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Puntos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Visibilidad crítica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0.000 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Sí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0.997180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9.485 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Sí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0.989488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24.628 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Sí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0.924413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27.498 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Sí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B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0.994451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88352" y="1938528"/>
            <a:ext cx="4160520" cy="3200400"/>
          </a:xfrm>
          <a:prstGeom prst="roundRect">
            <a:avLst>
              <a:gd name="adj" fmla="val 2286"/>
            </a:avLst>
          </a:prstGeom>
          <a:solidFill>
            <a:srgbClr val="D9F0EC"/>
          </a:solidFill>
          <a:ln w="19050">
            <a:solidFill>
              <a:srgbClr val="0B6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99248" y="22677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6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valid_for_analysis(f)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0" y="28620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si: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66760" y="2788920"/>
            <a:ext cx="2697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los 8 puntos centrales tienen visibilidad ≥ 0.50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existe al menos una referencia distal por cada pie con visibilidad ≥ 0.50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0" y="41605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en caso contrario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0" y="4645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minimum_critical_visibility = min(visibilidad de hombros, caderas, rodillas y tobillos)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5800" y="5742432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5879592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CSV almacena True/False; en las fórmulas se interpreta como indicador binario 1/0.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· INDICADORES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porcentajes agregan decisiones de distinto nivel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 mide lectura técnica; las reglas sobre MediaPipe miden disponibilidad anatómica.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0863072" cy="1005840"/>
          </a:xfrm>
          <a:prstGeom prst="roundRect">
            <a:avLst>
              <a:gd name="adj" fmla="val 6364"/>
            </a:avLst>
          </a:prstGeom>
          <a:solidFill>
            <a:srgbClr val="F1EFEA"/>
          </a:solidFill>
          <a:ln w="15240">
            <a:solidFill>
              <a:srgbClr val="96A5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391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Fotogramas procesados correctamente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203911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× fotogramas decodificados por OpenCV / fotogramas declarados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9372600" y="20574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6A5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100.00 %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099816"/>
            <a:ext cx="10863072" cy="1005840"/>
          </a:xfrm>
          <a:prstGeom prst="roundRect">
            <a:avLst>
              <a:gd name="adj" fmla="val 6364"/>
            </a:avLst>
          </a:prstGeom>
          <a:solidFill>
            <a:srgbClr val="D9F0EC"/>
          </a:solidFill>
          <a:ln w="15240">
            <a:solidFill>
              <a:srgbClr val="0B6B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2644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Fotogramas válidos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3264408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× Σ valid_for_analysis(f) / fotogramas decodificados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9372600" y="328269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100.00 %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" y="4325112"/>
            <a:ext cx="10863072" cy="1005840"/>
          </a:xfrm>
          <a:prstGeom prst="roundRect">
            <a:avLst>
              <a:gd name="adj" fmla="val 6364"/>
            </a:avLst>
          </a:prstGeom>
          <a:solidFill>
            <a:srgbClr val="E8E4F7"/>
          </a:solidFill>
          <a:ln w="15240">
            <a:solidFill>
              <a:srgbClr val="6657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489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 de puntos detectados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448970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 detected_keypoints(f) / fotogramas decodificados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9372600" y="45079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57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13.00 de 13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80160" y="5532120"/>
            <a:ext cx="9646920" cy="502920"/>
          </a:xfrm>
          <a:prstGeom prst="roundRect">
            <a:avLst>
              <a:gd name="adj" fmla="val 14545"/>
            </a:avLst>
          </a:prstGeom>
          <a:solidFill>
            <a:srgbClr val="FFF0C7"/>
          </a:solidFill>
          <a:ln w="15240">
            <a:solidFill>
              <a:srgbClr val="D88B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5687568"/>
            <a:ext cx="9098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del promedio: describe estabilidad y disponibilidad de los 13 puntos; no reemplaza la regla binaria de validez.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· TRAZABILIDAD VISUAL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CSV responden preguntas diferentes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representa los datos canónicos; no recalcula la decisión de calidad.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pose_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891122"/>
            <a:ext cx="6903720" cy="3798133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7589520" y="1847088"/>
          <a:ext cx="40690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85800" y="5687568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frame_quality.csv → disponibilidad por fotograma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720840" y="56875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landmarks.csv → visibilidad y cobertura por punto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SEÑAL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cadera convierte el movimiento en una curva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coordenadas de imagen, y aumenta hacia abajo: descender hace crecer hip_midpoint_y.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rep_03_inicio_descen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467" y="1993392"/>
            <a:ext cx="1825465" cy="3246120"/>
          </a:xfrm>
          <a:prstGeom prst="rect">
            <a:avLst/>
          </a:prstGeom>
        </p:spPr>
      </p:pic>
      <p:pic>
        <p:nvPicPr>
          <p:cNvPr id="6" name="Image 1" descr="D:/sistema-biomecanico/data/sentadilla_bilateral/outputs/dev_valgo_izq_002/rep_03_maxima_profundid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747" y="1993392"/>
            <a:ext cx="1825465" cy="3246120"/>
          </a:xfrm>
          <a:prstGeom prst="rect">
            <a:avLst/>
          </a:prstGeom>
        </p:spPr>
      </p:pic>
      <p:pic>
        <p:nvPicPr>
          <p:cNvPr id="7" name="Image 2" descr="D:/sistema-biomecanico/docs/assets/presentacion_sentadilla/hyperframes_senal_caderas/cover_senal_caderas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938528"/>
            <a:ext cx="6355080" cy="33375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58368" y="523036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D9F0EC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31520" y="5294376"/>
            <a:ext cx="1453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 · F474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2971800" y="523036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FE2D8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044952" y="5294376"/>
            <a:ext cx="1362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 · F592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5715000" y="5120640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13" name="Text 8">
            <a:hlinkClick r:id="rId5" tooltip=""/>
          </p:cNvPr>
          <p:cNvSpPr/>
          <p:nvPr/>
        </p:nvSpPr>
        <p:spPr>
          <a:xfrm>
            <a:off x="5989320" y="52852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hip_midpoint_y = (y_cadera_izq + y_cadera_der) / 2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 TRANSVERSAL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fórmula, dos interpolaciones distintas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Estimar un punto intermedio sirve tanto en el tiempo como dentro de un fotograma.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85416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 = q₁ + ((u − u₁)/(u₂ − u₁)) × (q₂ − q₁)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58368" y="32004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3493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INTERPOLACIÓN TEMPORAL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39136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 = tiempo o fotograma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= hip_midpoint_y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5536" y="3913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Cubre un hueco breve entre dos muestras conocidas.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32004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E8E4F7"/>
          </a:solidFill>
          <a:ln w="17780">
            <a:solidFill>
              <a:srgbClr val="6657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3493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INTERPOLACIÓN ESPACIAL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47688" y="39136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 = coordenada 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= coordenada 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23376" y="391363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Cruza el eje cadera–tobillo a la altura de la rodilla.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relación lineal es la misma; cambian el dominio, las variables y el propósito.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LIMPIEZA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Limpiar la señal sin inventar evidencia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operaciones reducen huecos y ruido; la decisión de calidad original permanece intacta.</a:t>
            </a:r>
            <a:endParaRPr lang="en-US" sz="1350" dirty="0"/>
          </a:p>
        </p:txBody>
      </p:sp>
      <p:pic>
        <p:nvPicPr>
          <p:cNvPr id="5" name="Image 0" descr="D:/sistema-biomecanico/docs/assets/segmentacion_sentadilla/01_limpieza_interpolacion_suaviz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729" y="1828800"/>
            <a:ext cx="5675623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993392"/>
            <a:ext cx="3200400" cy="3520440"/>
          </a:xfrm>
          <a:prstGeom prst="roundRect">
            <a:avLst>
              <a:gd name="adj" fmla="val 2286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13648" y="22677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30" kern="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 CENTRADA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95360" y="268833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fotogramas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 0.208 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595360" y="35844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 388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96528" y="4005072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cruda       0.751089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mediana     0.750506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    0.750437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49640" y="5047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permanece en F388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PROMINENCIA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máximo local debe sobresalir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prominencia descarta oscilaciones pequeñas que también producen máximos locales.</a:t>
            </a:r>
            <a:endParaRPr lang="en-US" sz="1350" dirty="0"/>
          </a:p>
        </p:txBody>
      </p:sp>
      <p:pic>
        <p:nvPicPr>
          <p:cNvPr id="5" name="Image 0" descr="D:/sistema-biomecanico/docs/assets/segmentacion_sentadilla/02_prominencia_picos_re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21501"/>
            <a:ext cx="6995160" cy="32836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965960"/>
            <a:ext cx="3840480" cy="1965960"/>
          </a:xfrm>
          <a:prstGeom prst="roundRect">
            <a:avLst>
              <a:gd name="adj" fmla="val 3721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65008" y="235915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prominencia(p)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046720" y="2880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señal(p) − max(BI, BD)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01000" y="342900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mínimo = max(0.03, 0.18 × (P95 − P05))</a:t>
            </a:r>
            <a:endParaRPr lang="en-US" sz="1050" dirty="0"/>
          </a:p>
        </p:txBody>
      </p:sp>
      <p:pic>
        <p:nvPicPr>
          <p:cNvPr id="10" name="Image 1" descr="D:/sistema-biomecanico/docs/assets/presentacion_sentadilla/hyperframes_segmentacion/cover_prominencia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160520"/>
            <a:ext cx="3611880" cy="1508760"/>
          </a:xfrm>
          <a:prstGeom prst="rect">
            <a:avLst/>
          </a:prstGeom>
        </p:spPr>
      </p:pic>
      <p:sp>
        <p:nvSpPr>
          <p:cNvPr id="11" name="Shape 7">
            <a:hlinkClick r:id="rId4" tooltip=""/>
          </p:cNvPr>
          <p:cNvSpPr/>
          <p:nvPr/>
        </p:nvSpPr>
        <p:spPr>
          <a:xfrm>
            <a:off x="9253728" y="4553712"/>
            <a:ext cx="658368" cy="658368"/>
          </a:xfrm>
          <a:prstGeom prst="ellipse">
            <a:avLst/>
          </a:prstGeom>
          <a:solidFill>
            <a:srgbClr val="E76F51">
              <a:alpha val="94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8">
            <a:hlinkClick r:id="rId5" tooltip=""/>
          </p:cNvPr>
          <p:cNvSpPr/>
          <p:nvPr/>
        </p:nvSpPr>
        <p:spPr>
          <a:xfrm>
            <a:off x="9381744" y="47274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458200" y="5742432"/>
            <a:ext cx="2240280" cy="310896"/>
          </a:xfrm>
          <a:prstGeom prst="roundRect">
            <a:avLst>
              <a:gd name="adj" fmla="val 23529"/>
            </a:avLst>
          </a:prstGeom>
          <a:solidFill>
            <a:srgbClr val="FFE2D8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31352" y="5806440"/>
            <a:ext cx="209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 EXPLICATIVO · 18 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CASO LÍMITE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recuperación evita duplicar una ejecución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candidatos separados en el tiempo pueden pertenecer a la misma sentadilla.</a:t>
            </a:r>
            <a:endParaRPr lang="en-US" sz="1350" dirty="0"/>
          </a:p>
        </p:txBody>
      </p:sp>
      <p:pic>
        <p:nvPicPr>
          <p:cNvPr id="5" name="Image 0" descr="D:/sistema-biomecanico/docs/assets/segmentacion_sentadilla/03_error_doble_pico_recuper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6995" y="1828800"/>
            <a:ext cx="598709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2011680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FFE2D8"/>
          </a:solidFill>
          <a:ln w="20320">
            <a:solidFill>
              <a:srgbClr val="E76F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2.002 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732520" y="2880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separación temporal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732520" y="3493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6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0.000204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732520" y="3977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observada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32520" y="46085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0.03 → fusionar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algoritmo conserva el pico más profundo porque no hubo una recuperación biomecánica suficiente.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EVENTOS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pico a las fases de una ejecución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repetición conserva tres fotogramas clave y dos intervalos de movimiento.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rep_03_inicio_descen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990" y="1901952"/>
            <a:ext cx="1928308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" y="523036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9F0EC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29437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167128" y="53126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F474 · 19.75 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087368" y="3566160"/>
            <a:ext cx="192024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pic>
        <p:nvPicPr>
          <p:cNvPr id="10" name="Image 1" descr="D:/sistema-biomecanico/data/sentadilla_bilateral/outputs/dev_valgo_izq_002/rep_03_maxima_profundid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50" y="1901952"/>
            <a:ext cx="1928308" cy="3429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90288" y="5230368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FE2D8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5294376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MÁXIMA PROFUNDIDAD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961888" y="53126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F592 · 24.63 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882128" y="3566160"/>
            <a:ext cx="192024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pic>
        <p:nvPicPr>
          <p:cNvPr id="15" name="Image 2" descr="D:/sistema-biomecanico/data/sentadilla_bilateral/outputs/dev_valgo_izq_002/rep_03_final_ascens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510" y="1901952"/>
            <a:ext cx="1928308" cy="3429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385048" y="523036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8E4F7"/>
          </a:solidFill>
          <a:ln w="12700">
            <a:solidFill>
              <a:srgbClr val="6657A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458200" y="529437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9756648" y="53126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F621 · 25.84 s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Descenso y ascenso se calculan alrededor de una profundidad aceptada; el pico no se analiza de forma aislada.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4 · NORMALIZACIÓN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W0 convierte píxeles aparentes en proporciones corporales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referencia se estima en reposo inicial; no en el fotograma de máxima profundidad.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rep_03_inicio_descen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770" y="1874520"/>
            <a:ext cx="2288259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64208" y="2980944"/>
            <a:ext cx="1719072" cy="27432"/>
          </a:xfrm>
          <a:prstGeom prst="line">
            <a:avLst/>
          </a:prstGeom>
          <a:noFill/>
          <a:ln w="63500">
            <a:solidFill>
              <a:srgbClr val="6657A5"/>
            </a:solidFill>
            <a:prstDash val="solid"/>
            <a:headEnd type="triangl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2212848" y="2578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57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74920" y="1993392"/>
            <a:ext cx="5989320" cy="1847088"/>
          </a:xfrm>
          <a:prstGeom prst="roundRect">
            <a:avLst>
              <a:gd name="adj" fmla="val 3960"/>
            </a:avLst>
          </a:prstGeom>
          <a:solidFill>
            <a:srgbClr val="E8E4F7"/>
          </a:solidFill>
          <a:ln w="19050">
            <a:solidFill>
              <a:srgbClr val="6657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68112" y="245059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W0 = mediana(|x_hombro_der − x_hombro_izq|)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035040" y="30723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fotogramas iniciales válidos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74920" y="41605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D9F0EC"/>
          </a:solidFill>
          <a:ln w="13970">
            <a:solidFill>
              <a:srgbClr val="0B6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84648" y="44074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0.258264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184648" y="482803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 normalizado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132320" y="41605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D9F0EC"/>
          </a:solidFill>
          <a:ln w="13970">
            <a:solidFill>
              <a:srgbClr val="0B6B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44074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 123.45 px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242048" y="482803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478 px de ancho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9189720" y="41605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0C7"/>
          </a:solidFill>
          <a:ln w="13970">
            <a:solidFill>
              <a:srgbClr val="D88B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99448" y="44074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% de W0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299448" y="482803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de distancias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 reduce el efecto del tamaño aparente; no corrige perspectiva ni reemplaza una calibración 3D.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4 · GEOMETRÍA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Orientación y traslación son preguntas distintas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el tronco se expresa en grados y la pelvis como porcentaje de W0.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INCLINACIÓN DEL TRONCO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03120" y="2999232"/>
            <a:ext cx="0" cy="150876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209544"/>
            <a:ext cx="1143000" cy="1298448"/>
          </a:xfrm>
          <a:prstGeom prst="line">
            <a:avLst/>
          </a:prstGeom>
          <a:noFill/>
          <a:ln w="762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3154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θ = atan2(Δx, Δy)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29000" y="38587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Pregunta: ¿cuánto se orienta el eje respecto de la vertical?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919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R3: 12.38°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196596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FFE2D8"/>
          </a:solidFill>
          <a:ln w="1778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DESPLAZAMIENTO DE PELVIS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0" y="3977640"/>
            <a:ext cx="1463040" cy="0"/>
          </a:xfrm>
          <a:prstGeom prst="line">
            <a:avLst/>
          </a:prstGeom>
          <a:noFill/>
          <a:ln w="38100">
            <a:solidFill>
              <a:srgbClr val="96A5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3218688"/>
            <a:ext cx="1051560" cy="0"/>
          </a:xfrm>
          <a:prstGeom prst="line">
            <a:avLst/>
          </a:prstGeom>
          <a:noFill/>
          <a:ln w="88900">
            <a:solidFill>
              <a:srgbClr val="0B6B69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326880" y="31546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 × Δx / W0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26880" y="3858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Pregunta: ¿cuánto se trasladó lateralmente la pelvis respecto de la base?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93408" y="4919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R3: 9.55 % de W0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signo indica izquierda o derecha; la magnitud absoluta se compara con el umbral.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4 · RODILLA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Alineación cadera–rodilla–tobillo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interpolación espacial construye una referencia esperada a la altura vertical de la rodilla.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peak_rep_3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29" y="1874520"/>
            <a:ext cx="2391102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" y="532180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FE2D8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385816"/>
            <a:ext cx="1453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▶ CLIP · 26 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977640" y="1938528"/>
            <a:ext cx="3840480" cy="3794760"/>
          </a:xfrm>
          <a:prstGeom prst="roundRect">
            <a:avLst>
              <a:gd name="adj" fmla="val 1928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0" y="2304288"/>
            <a:ext cx="411480" cy="411480"/>
          </a:xfrm>
          <a:prstGeom prst="rect">
            <a:avLst/>
          </a:prstGeom>
          <a:solidFill>
            <a:srgbClr val="0B6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828032" y="23225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= (Ky − Hy) / (Ay − Hy)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97680" y="3246120"/>
            <a:ext cx="411480" cy="411480"/>
          </a:xfrm>
          <a:prstGeom prst="rect">
            <a:avLst/>
          </a:prstGeom>
          <a:solidFill>
            <a:srgbClr val="D88B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828032" y="32644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Kx esperado = Hx + t(Ax − Hx)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97680" y="4187952"/>
            <a:ext cx="411480" cy="41148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828032" y="42062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× desplazamiento medial / W0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370832" y="5102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Interpolación espacial: un solo fotograma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92440" y="1938528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0C7"/>
          </a:solidFill>
          <a:ln w="19050">
            <a:solidFill>
              <a:srgbClr val="D88B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94192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· rodilla izquierda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94192" y="281635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436608" y="28163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(0.607777, 0.750241)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394192" y="3081528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94192" y="321868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436608" y="3218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(0.544360, 0.812981)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394192" y="3483864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94192" y="36210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436608" y="36210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(0.621215, 0.869815)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394192" y="3886200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94192" y="40233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436608" y="40233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0.524693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394192" y="4288536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94192" y="44256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Kx esperado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9436608" y="44256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0.614828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394192" y="4690872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94192" y="48280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Desviación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9436608" y="48280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27.29 % de W0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bilateral usa las dos alineaciones ya calculadas; no equivale por sí sola a una asimetría corporal general.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5 · INTERPRETACIÓN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 todavía no es clasificar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conserva magnitud, dirección, unidad y estado para cada patrón.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D9F0EC"/>
          </a:solidFill>
          <a:ln w="16510">
            <a:solidFill>
              <a:srgbClr val="0B6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5895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12.38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029968" y="3127248"/>
            <a:ext cx="9601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D9F0EC"/>
          </a:solidFill>
          <a:ln w="16510">
            <a:solidFill>
              <a:srgbClr val="0B6B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DIRECCIÓN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3639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izquierda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407408" y="3127248"/>
            <a:ext cx="9601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4068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E8E4F7"/>
          </a:solidFill>
          <a:ln w="16510">
            <a:solidFill>
              <a:srgbClr val="6657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1383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grados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84848" y="3127248"/>
            <a:ext cx="9601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1812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FFF0C7"/>
          </a:solidFill>
          <a:ln w="16510">
            <a:solidFill>
              <a:srgbClr val="D88B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89127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≥ 12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162288" y="3127248"/>
            <a:ext cx="9601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9556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FFE2D8"/>
          </a:solidFill>
          <a:ln w="1651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6871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234440" y="4434840"/>
            <a:ext cx="9692640" cy="914400"/>
          </a:xfrm>
          <a:prstGeom prst="roundRect">
            <a:avLst>
              <a:gd name="adj" fmla="val 8000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72768" y="4736592"/>
            <a:ext cx="9015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cuatro patrones se evalúan de forma independiente; una repetición puede contener ninguna, una o varias compensaciones observables.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umbrales son provisionales del prototipo; deben calibrarse y validarse frente a la referencia experta.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DEMOSTRACIÓN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web hace visible la trazabilidad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presentación explica la lógica; la interfaz permite recorrer el caso y descargar la evidencia.</a:t>
            </a:r>
            <a:endParaRPr lang="en-US" sz="1350" dirty="0"/>
          </a:p>
        </p:txBody>
      </p:sp>
      <p:pic>
        <p:nvPicPr>
          <p:cNvPr id="5" name="Image 0" descr="D:/sistema-biomecanico/docs/assets/presentacion_sentadilla/web_trazabilidad_ca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75936"/>
            <a:ext cx="7909560" cy="44491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869680" y="1828800"/>
            <a:ext cx="420624" cy="420624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0" y="193852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464040" y="18470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2D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64040" y="21579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y puntos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869680" y="2615184"/>
            <a:ext cx="420624" cy="420624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0" y="272491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464040" y="263347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64040" y="29443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 592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869680" y="3401568"/>
            <a:ext cx="420624" cy="420624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0" y="351129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464040" y="34198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464040" y="3730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 y geometría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869680" y="4187952"/>
            <a:ext cx="420624" cy="420624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0" y="429768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464040" y="420624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464040" y="45171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banda de decisión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869680" y="4974336"/>
            <a:ext cx="420624" cy="42062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0" y="508406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9464040" y="499262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Descargas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464040" y="5303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artefactos técnicos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Video, tiempo, fotograma, coordenadas, fórmula y clasificación deben contar la misma historia.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85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DEMUESTRA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715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observación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vuelve medible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auditable.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629400" y="868680"/>
            <a:ext cx="0" cy="4983480"/>
          </a:xfrm>
          <a:prstGeom prst="line">
            <a:avLst/>
          </a:prstGeom>
          <a:noFill/>
          <a:ln w="5080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1051560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10642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35240" y="10607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2D con control de calidad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86600" y="1810512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35240" y="18196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ejecuciones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86600" y="2569464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62432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35240" y="2578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Geometría observable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86600" y="3328416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338328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35240" y="33375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transparentes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86600" y="4087368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414223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35240" y="40965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con expertos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86600" y="516636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determina por sí solo una causa anatómica, patología o tratamiento.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" y="480060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paso: estimar desempeño frente a evaluadores expertos mediante F1-score y concordancia.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" y="5989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Universidad Tecnológica del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video a una decisión auditable</dc:title>
  <dc:subject>Explicación técnica del sistema de visión por computadora para sentadilla bilateral</dc:subject>
  <dc:creator>Elias Chapoñan</dc:creator>
  <cp:lastModifiedBy>Elias Chapoñan</cp:lastModifiedBy>
  <cp:revision>1</cp:revision>
  <dcterms:created xsi:type="dcterms:W3CDTF">2026-08-12T11:33:33Z</dcterms:created>
  <dcterms:modified xsi:type="dcterms:W3CDTF">2026-08-12T11:33:33Z</dcterms:modified>
</cp:coreProperties>
</file>