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6E762-0D4D-4632-A43D-EED6EAFB0FAD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915DC-98E2-4F69-8D9A-AA593F1A7B3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858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presentacion sigue un caso real desde la deteccion de pose hasta la regla final. La contribucion es la trazabilidad: cada resultado conserva fotograma, coordenadas, formula y criterio.</a:t>
            </a:r>
          </a:p>
          <a:p>
            <a:endParaRPr lang="es-MX"/>
          </a:p>
          <a:p>
            <a:r>
              <a:rPr lang="es-MX"/>
              <a:t>[Sources]</a:t>
            </a:r>
          </a:p>
          <a:p>
            <a:r>
              <a:rPr lang="es-MX"/>
              <a:t>Evidencia propia: data/sentadilla_bilateral/outputs/dev_valgo_izq_002/rep_03_maxima_profundidad.png</a:t>
            </a:r>
          </a:p>
          <a:p>
            <a:r>
              <a:rPr lang="es-MX"/>
              <a:t>[/Sources]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3493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observacion humana es la referencia del estudio, pero el sistema obliga a usar la misma definicion, unidad, instante y regla. No intenta reemplazar al experto.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4948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interfaz presenta cuatro pestanas equivalentes a las fases del pipeline. La demostracion web se utilizara despues para recorrerlas sobre el mismo video.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106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SciPy se usa como referencia conceptual para prominencia. La implementacion del prototipo es propia y equivalente; React no recalcula las metricas, solo visualiza el contrato de FastAPI.</a:t>
            </a:r>
          </a:p>
          <a:p>
            <a:endParaRPr lang="es-MX"/>
          </a:p>
          <a:p>
            <a:r>
              <a:rPr lang="es-MX"/>
              <a:t>[Sources]</a:t>
            </a:r>
          </a:p>
          <a:p>
            <a:r>
              <a:rPr lang="es-MX"/>
              <a:t>SciPy find_peaks: https://docs.scipy.org/doc/scipy/reference/generated/scipy.signal.find_peaks.html</a:t>
            </a:r>
          </a:p>
          <a:p>
            <a:r>
              <a:rPr lang="es-MX"/>
              <a:t>[/Sources]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1506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/>
              <a:t>El overlay permite inspeccion visual; landmarks.csv conserva coordenadas y visibilidad; frame_quality.csv resume la elegibilidad de cada fotograma.</a:t>
            </a:r>
          </a:p>
          <a:p>
            <a:endParaRPr lang="es-PE"/>
          </a:p>
          <a:p>
            <a:r>
              <a:rPr lang="es-PE"/>
              <a:t>[Sources]</a:t>
            </a:r>
          </a:p>
          <a:p>
            <a:r>
              <a:rPr lang="es-PE"/>
              <a:t>MediaPipe Pose Landmarker: https://ai.google.dev/edge/mediapipe/solutions/vision/pose_landmarker</a:t>
            </a:r>
          </a:p>
          <a:p>
            <a:r>
              <a:rPr lang="es-PE"/>
              <a:t>[/Sources]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213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origen de una imagen esta arriba a la izquierda. Por ello, bajar la cadera aumenta Y y la maxima profundidad aparece como un maximo, no como un minimo.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89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interpolacion temporal construye un puente entre muestras. La decision de calidad permanece en valid_for_analysis. En este caso concreto no hubo huecos; la figura incluye una demostracion controlada.</a:t>
            </a:r>
          </a:p>
          <a:p>
            <a:endParaRPr lang="es-MX"/>
          </a:p>
          <a:p>
            <a:r>
              <a:rPr lang="es-MX"/>
              <a:t>[Sources]</a:t>
            </a:r>
          </a:p>
          <a:p>
            <a:r>
              <a:rPr lang="es-MX"/>
              <a:t>pandas Series.interpolate: https://pandas.pydata.org/docs/reference/api/pandas.Series.interpolate.html</a:t>
            </a:r>
          </a:p>
          <a:p>
            <a:r>
              <a:rPr lang="es-MX"/>
              <a:t>[/Sources]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7741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prominencia no es confianza del modelo. Es la altura del pico sobre su linea de contorno local. Los tres candidatos reales superan el minimo adaptativo.</a:t>
            </a:r>
          </a:p>
          <a:p>
            <a:endParaRPr lang="es-MX"/>
          </a:p>
          <a:p>
            <a:r>
              <a:rPr lang="es-MX"/>
              <a:t>[Sources]</a:t>
            </a:r>
          </a:p>
          <a:p>
            <a:r>
              <a:rPr lang="es-MX"/>
              <a:t>SciPy peak_prominences: https://docs.scipy.org/doc/scipy/reference/generated/scipy.signal.peak_prominences.html</a:t>
            </a:r>
          </a:p>
          <a:p>
            <a:r>
              <a:rPr lang="es-MX"/>
              <a:t>[/Sources]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3579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regla temporal de dos segundos fallo en un caso limite. La validacion biomecanica exige que el sujeto haya recuperado altura suficiente antes de aceptar otra repeticion.</a:t>
            </a:r>
          </a:p>
          <a:p>
            <a:endParaRPr lang="es-MX"/>
          </a:p>
          <a:p>
            <a:r>
              <a:rPr lang="es-MX"/>
              <a:t>[Sources]</a:t>
            </a:r>
          </a:p>
          <a:p>
            <a:r>
              <a:rPr lang="es-MX"/>
              <a:t>Analisis propio: docs/analisis_error_segmentacion_dev_case_1784949757322.md</a:t>
            </a:r>
          </a:p>
          <a:p>
            <a:r>
              <a:rPr lang="es-MX"/>
              <a:t>[/Sources]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1946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pico aceptado es maxima profundidad. A sus lados se buscan regiones de retorno hacia la posicion alta. Los intervalos anterior y posterior se etiquetan como descenso y ascenso.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193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Dividir una distancia horizontal entre W0 cambia la pregunta de cuanto se movio en la imagen a que proporcion de una referencia corporal estable representa.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1288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tronco se expresa en grados porque mide orientacion. La pelvis se expresa como porcentaje porque mide traslacion. Usar la misma formula responderia otra pregunta y cambiaria el nombre de la variable.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3471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proporcion t ubica la altura de la rodilla dentro del segmento cadera-tobillo. Luego se interpola solo la coordenada X esperada. La diferencia con la rodilla real es la desviacion observada.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2858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Cada patron se evalua de forma independiente. Una repeticion puede presentar varios patrones. Los umbrales sirven para construir el prototipo y deben calibrarse y validarse.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5548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Pasar a la web. Seleccionar la repeticion 3 y recorrer las pestanas Pose 2D, Segmentacion, Variables y Reglas. Abrir el detalle de coordenadas de Rodillas.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28059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Cerrar delimitando el alcance. La tesis demuestra un procedimiento interpretable y evaluable, no una herramienta diagnostica completa.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915DC-98E2-4F69-8D9A-AA593F1A7B3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30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1948C-F505-B755-8513-6FFD314E8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883019-FD51-ADD6-BE2F-E566F602C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3972F1-D0EB-8DBC-B977-73CEC183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438A6A-D28A-27D4-C898-9C013471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258086-9F22-EF00-5FF9-CDB99362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75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49BB5-05C3-6F61-004E-F29C7DF5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2B85AA-C3C2-B1B0-2DF9-D6A753D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3AAC71-793A-BBA7-E047-D5229E3E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5C2BE-3960-59E9-FA0F-66A45944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509E88-7D19-E87E-FCF0-C3D8AD63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3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F1780-AC65-B227-DF39-B24AFEDA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6859C0-828D-3E75-AA73-1B9C217CD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203A8C-88A6-2E5E-84B3-C1CE994B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9B5525-7925-8D6D-D77D-B07ACD6B1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E27418-F0F9-D692-CE55-E1B970EA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80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04EBD-033C-6CCD-D098-5DB5BC3E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E6B5C1-E202-2784-3510-E5930A096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739D6B-3277-ECBA-9240-97375A6FB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BEAA3D-1529-E280-1931-CA5C14F7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599030-909A-2F7F-5DA8-7101A97F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C7C437-4BD7-207D-4953-9FE24F03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793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1CD14-788D-BE6E-F10A-9B6D850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7AE008-BBB7-CA62-9A4E-8E4808B10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5281B3-C0DB-7171-67AB-9C6694C1C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04E9FA-BE53-D3E3-39BD-BA016547B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6C01C87-1E32-1872-A1B2-2CE92324A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C7C1AE6-16C7-2397-7FAF-7D12FCFD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A0DDF7-5A46-0347-4BBA-CFF10E390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1AF67A-1802-D055-DD37-337F81A8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202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82AA3-7B51-597B-ABBD-F9CE0765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DE478C-5C89-D063-7581-10175A4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CA5FE4-4EE3-275D-7511-A643A3BC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64C6BE-C2E9-CD21-9C53-7E8B5308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380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65F84C-C2CD-BB82-1331-D3DE8949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78B011-3E78-14FB-9C1B-AB7CCEC1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74CFE8-2D32-59D1-FDEC-587330D2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915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CE8B6-07DE-874C-997E-9D9ACDBE3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93254-5B52-3E44-0CAD-D03DA7211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B4DBF2-0825-ED3C-5ABE-D8F065AFB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0A7442-E7B8-C9FE-7963-D18C4B81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C34E17-C48A-D930-C5B7-7D66227D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406FAE-4E76-AD7B-D815-71B9D85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58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45C42-560C-D62D-E0AD-7C604D54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868723-08CC-3705-2ECA-7C3AA1E684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C8343D-5070-DAEB-6DAB-F505A6CBE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036D99-1423-6AB8-8290-C1C3EECFA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98724F-4C0C-4134-5F56-20E13C7BE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05DE0D-8987-C15A-686D-93B0CC15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764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6D905-A481-CFF5-4073-59EBBAC5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2E014-5136-5D45-C9B4-FCC5DCF0F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EE8B77-CC9C-D8E3-1CC9-7D54E399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485409-C67F-DF07-3ECC-D4886C91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EBA1D0-0734-39FD-7FED-1C291E17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662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B08841-2A5D-C291-18F7-613DF17AB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1418B3-1C4A-827F-E7F6-447A8377E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24C7FA-AAF4-C5D0-E767-11330C55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3672AD-68D0-82B3-CC08-829D9C1F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56E4CA-5FC9-D061-F723-3B8E61B2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41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134EB5-79CD-A214-65C2-5AF1F2222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D0C30C-2B3D-8447-E06F-9E8066D4C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14A45-B479-8318-A1C7-A4D04A4E9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3A229-721F-4220-A6AA-9A9A8DB5C144}" type="datetimeFigureOut">
              <a:rPr lang="es-PE" smtClean="0"/>
              <a:t>9/08/2026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BA84FB-6A35-FBC8-5C80-2B5FE05C8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BE0220-C34E-F1F3-E622-A062E4DBA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D89C6-AFF0-4C7B-9A54-B1C50CDBD8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062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965E515-E73D-4610-E8B4-B4168D19B7C9}"/>
              </a:ext>
            </a:extLst>
          </p:cNvPr>
          <p:cNvSpPr txBox="1"/>
          <p:nvPr/>
        </p:nvSpPr>
        <p:spPr>
          <a:xfrm>
            <a:off x="609600" y="508000"/>
            <a:ext cx="787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00" b="1">
                <a:solidFill>
                  <a:srgbClr val="42C8C5"/>
                </a:solidFill>
                <a:latin typeface="Cascadia Mono"/>
              </a:rPr>
              <a:t>TESIS / SISTEMA DE VISIÓN POR COMPUTADORA</a:t>
            </a:r>
            <a:endParaRPr lang="es-PE" sz="1000" b="1">
              <a:solidFill>
                <a:srgbClr val="42C8C5"/>
              </a:solidFill>
              <a:latin typeface="Cascadia Mono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C79E4C-01DC-C53B-2938-23E6A283C0F1}"/>
              </a:ext>
            </a:extLst>
          </p:cNvPr>
          <p:cNvSpPr txBox="1"/>
          <p:nvPr/>
        </p:nvSpPr>
        <p:spPr>
          <a:xfrm>
            <a:off x="609600" y="1206500"/>
            <a:ext cx="6350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3800" b="1">
                <a:solidFill>
                  <a:srgbClr val="FFFFFF"/>
                </a:solidFill>
                <a:latin typeface="Aptos Display" panose="020B0004020202020204" pitchFamily="34" charset="0"/>
              </a:rPr>
              <a:t>Del video a una
decisión auditable</a:t>
            </a:r>
            <a:endParaRPr lang="es-PE" sz="38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0B0BF0-2FDD-FF68-7C97-529320B5C39A}"/>
              </a:ext>
            </a:extLst>
          </p:cNvPr>
          <p:cNvSpPr txBox="1"/>
          <p:nvPr/>
        </p:nvSpPr>
        <p:spPr>
          <a:xfrm>
            <a:off x="635000" y="2921000"/>
            <a:ext cx="571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700">
                <a:solidFill>
                  <a:srgbClr val="E8E4DA"/>
                </a:solidFill>
                <a:latin typeface="Aptos" panose="020B0004020202020204" pitchFamily="34" charset="0"/>
              </a:rPr>
              <a:t>Sentadilla bilateral / pose 2D / criterios biomecánicos interpretables</a:t>
            </a:r>
            <a:endParaRPr lang="es-PE" sz="1700">
              <a:solidFill>
                <a:srgbClr val="E8E4DA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2617F4-5022-66FC-2C17-0C3689F7DA27}"/>
              </a:ext>
            </a:extLst>
          </p:cNvPr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18383A"/>
          </a:solidFill>
          <a:ln>
            <a:solidFill>
              <a:srgbClr val="1838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0D4DBC-8D27-8699-F19D-F371D0E01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920" y="940740"/>
            <a:ext cx="2798560" cy="49765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A37C719-70E7-4085-5D60-7FAF0B7B8C91}"/>
              </a:ext>
            </a:extLst>
          </p:cNvPr>
          <p:cNvSpPr txBox="1"/>
          <p:nvPr/>
        </p:nvSpPr>
        <p:spPr>
          <a:xfrm>
            <a:off x="635000" y="5689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F0B64B"/>
                </a:solidFill>
                <a:latin typeface="Cascadia Mono"/>
              </a:rPr>
              <a:t>CASO CONDUCTOR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341668-4D4B-C055-FA65-E9DE412D1BBF}"/>
              </a:ext>
            </a:extLst>
          </p:cNvPr>
          <p:cNvSpPr txBox="1"/>
          <p:nvPr/>
        </p:nvSpPr>
        <p:spPr>
          <a:xfrm>
            <a:off x="635000" y="5969000"/>
            <a:ext cx="495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 b="1">
                <a:solidFill>
                  <a:srgbClr val="FFFFFF"/>
                </a:solidFill>
                <a:latin typeface="Aptos" panose="020B0004020202020204" pitchFamily="34" charset="0"/>
              </a:rPr>
              <a:t>dev_valgo_izq_002 / repetición 3</a:t>
            </a:r>
            <a:endParaRPr lang="es-PE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35855FA-0AC8-4080-BE19-90D4FD9E2C38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17961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4D9027-D01E-4889-7FAB-DAF4D53474AE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83DA51-55E3-7DA1-2D7B-C6A681BEE53E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800" b="1">
                <a:solidFill>
                  <a:srgbClr val="082327"/>
                </a:solidFill>
                <a:latin typeface="Aptos Display" panose="020B0004020202020204" pitchFamily="34" charset="0"/>
              </a:rPr>
              <a:t>Ver no equivale a medir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DA804D-55E2-637A-ED9E-1FF42F5FA52B}"/>
              </a:ext>
            </a:extLst>
          </p:cNvPr>
          <p:cNvSpPr txBox="1"/>
          <p:nvPr/>
        </p:nvSpPr>
        <p:spPr>
          <a:xfrm>
            <a:off x="660400" y="1714500"/>
            <a:ext cx="6604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500" b="1">
                <a:solidFill>
                  <a:srgbClr val="082327"/>
                </a:solidFill>
                <a:latin typeface="Aptos" panose="020B0004020202020204" pitchFamily="34" charset="0"/>
              </a:rPr>
              <a:t>Una compensacion notoria puede observarse a simple vista.</a:t>
            </a:r>
            <a:endParaRPr lang="es-PE" sz="2500" b="1">
              <a:solidFill>
                <a:srgbClr val="082327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DBF316-F34A-94D0-AB14-EC6D20FB6B54}"/>
              </a:ext>
            </a:extLst>
          </p:cNvPr>
          <p:cNvSpPr txBox="1"/>
          <p:nvPr/>
        </p:nvSpPr>
        <p:spPr>
          <a:xfrm>
            <a:off x="660400" y="2413000"/>
            <a:ext cx="67945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200">
                <a:solidFill>
                  <a:srgbClr val="6B7C7E"/>
                </a:solidFill>
                <a:latin typeface="Aptos" panose="020B0004020202020204" pitchFamily="34" charset="0"/>
              </a:rPr>
              <a:t>El reto científico es convertirla en una medición repetible, explicable y comparable entre casos y evaluadores.</a:t>
            </a:r>
            <a:endParaRPr lang="es-PE" sz="2200">
              <a:solidFill>
                <a:srgbClr val="6B7C7E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7757160-0FB6-DAF7-6A47-3E2200343723}"/>
              </a:ext>
            </a:extLst>
          </p:cNvPr>
          <p:cNvSpPr/>
          <p:nvPr/>
        </p:nvSpPr>
        <p:spPr>
          <a:xfrm>
            <a:off x="8255000" y="1651000"/>
            <a:ext cx="3175000" cy="3175000"/>
          </a:xfrm>
          <a:prstGeom prst="roundRect">
            <a:avLst/>
          </a:prstGeom>
          <a:solidFill>
            <a:srgbClr val="082327"/>
          </a:solidFill>
          <a:ln>
            <a:solidFill>
              <a:srgbClr val="0823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C295A25-9EB9-7283-DE5F-3E299A170416}"/>
              </a:ext>
            </a:extLst>
          </p:cNvPr>
          <p:cNvSpPr txBox="1"/>
          <p:nvPr/>
        </p:nvSpPr>
        <p:spPr>
          <a:xfrm>
            <a:off x="8636000" y="20955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42C8C5"/>
                </a:solidFill>
                <a:latin typeface="Cascadia Mono"/>
              </a:rPr>
              <a:t>OBSERVACION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D5FA62A-F1EE-4934-0DB9-523C31817511}"/>
              </a:ext>
            </a:extLst>
          </p:cNvPr>
          <p:cNvSpPr txBox="1"/>
          <p:nvPr/>
        </p:nvSpPr>
        <p:spPr>
          <a:xfrm>
            <a:off x="8636000" y="26035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300" b="1">
                <a:solidFill>
                  <a:srgbClr val="FFFFFF"/>
                </a:solidFill>
                <a:latin typeface="Aptos Display" panose="020B0004020202020204" pitchFamily="34" charset="0"/>
              </a:rPr>
              <a:t>"La rodilla entra"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D773702-7E8C-898E-C073-2BFB192EA3C6}"/>
              </a:ext>
            </a:extLst>
          </p:cNvPr>
          <p:cNvCxnSpPr/>
          <p:nvPr/>
        </p:nvCxnSpPr>
        <p:spPr>
          <a:xfrm>
            <a:off x="8890000" y="3492500"/>
            <a:ext cx="1905000" cy="0"/>
          </a:xfrm>
          <a:prstGeom prst="line">
            <a:avLst/>
          </a:prstGeom>
          <a:ln w="381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352FF4-E15A-8A6B-9141-8EF16E3EAA9D}"/>
              </a:ext>
            </a:extLst>
          </p:cNvPr>
          <p:cNvSpPr txBox="1"/>
          <p:nvPr/>
        </p:nvSpPr>
        <p:spPr>
          <a:xfrm>
            <a:off x="8636000" y="38735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F0B64B"/>
                </a:solidFill>
                <a:latin typeface="Cascadia Mono"/>
              </a:rPr>
              <a:t>MEDICION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B2DEC57-DCCF-AADD-91FC-31FDB16018AF}"/>
              </a:ext>
            </a:extLst>
          </p:cNvPr>
          <p:cNvSpPr txBox="1"/>
          <p:nvPr/>
        </p:nvSpPr>
        <p:spPr>
          <a:xfrm>
            <a:off x="8636000" y="42545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200" b="1">
                <a:solidFill>
                  <a:srgbClr val="FFFFFF"/>
                </a:solidFill>
                <a:latin typeface="Aptos Display" panose="020B0004020202020204" pitchFamily="34" charset="0"/>
              </a:rPr>
              <a:t>27.29 % de W0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7B2FE0-DC82-0707-FE6B-22555F19146F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449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7BC1A3-9FBB-0F1D-E8FE-3388D98D11CD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FASES 2-5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20E66D-0917-2449-4E3F-09868C98BBF5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FFFFFF"/>
                </a:solidFill>
                <a:latin typeface="Aptos Display" panose="020B0004020202020204" pitchFamily="34" charset="0"/>
              </a:rPr>
              <a:t>Una cadena; no una caja negra</a:t>
            </a:r>
            <a:endParaRPr lang="es-PE" sz="28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98DE1DF-CDFB-8EFB-2A3D-EC1107C8D0CD}"/>
              </a:ext>
            </a:extLst>
          </p:cNvPr>
          <p:cNvSpPr/>
          <p:nvPr/>
        </p:nvSpPr>
        <p:spPr>
          <a:xfrm>
            <a:off x="508000" y="2413000"/>
            <a:ext cx="2057400" cy="965200"/>
          </a:xfrm>
          <a:prstGeom prst="roundRect">
            <a:avLst/>
          </a:prstGeom>
          <a:solidFill>
            <a:srgbClr val="42C8C5"/>
          </a:solidFill>
          <a:ln>
            <a:solidFill>
              <a:srgbClr val="42C8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1ED21C-B842-D6B5-8CC0-DD059E8CF770}"/>
              </a:ext>
            </a:extLst>
          </p:cNvPr>
          <p:cNvSpPr txBox="1"/>
          <p:nvPr/>
        </p:nvSpPr>
        <p:spPr>
          <a:xfrm>
            <a:off x="660400" y="2641600"/>
            <a:ext cx="175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500" b="1">
                <a:solidFill>
                  <a:srgbClr val="071A1B"/>
                </a:solidFill>
                <a:latin typeface="Aptos" panose="020B0004020202020204" pitchFamily="34" charset="0"/>
              </a:rPr>
              <a:t>Pose 2D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ABFF2F8-5DE1-5888-E93F-354517E5667B}"/>
              </a:ext>
            </a:extLst>
          </p:cNvPr>
          <p:cNvCxnSpPr/>
          <p:nvPr/>
        </p:nvCxnSpPr>
        <p:spPr>
          <a:xfrm>
            <a:off x="2565400" y="2895600"/>
            <a:ext cx="165100" cy="0"/>
          </a:xfrm>
          <a:prstGeom prst="line">
            <a:avLst/>
          </a:prstGeom>
          <a:ln w="254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69B4AC3-2EEE-4C33-B8F3-394B8FF9C5C4}"/>
              </a:ext>
            </a:extLst>
          </p:cNvPr>
          <p:cNvSpPr/>
          <p:nvPr/>
        </p:nvSpPr>
        <p:spPr>
          <a:xfrm>
            <a:off x="2730500" y="2413000"/>
            <a:ext cx="2057400" cy="965200"/>
          </a:xfrm>
          <a:prstGeom prst="roundRect">
            <a:avLst/>
          </a:prstGeom>
          <a:solidFill>
            <a:srgbClr val="18383A"/>
          </a:solidFill>
          <a:ln>
            <a:solidFill>
              <a:srgbClr val="42C8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907695-62DC-0912-665A-AB6EEE79A16A}"/>
              </a:ext>
            </a:extLst>
          </p:cNvPr>
          <p:cNvSpPr txBox="1"/>
          <p:nvPr/>
        </p:nvSpPr>
        <p:spPr>
          <a:xfrm>
            <a:off x="2882900" y="2641600"/>
            <a:ext cx="175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500" b="1">
                <a:solidFill>
                  <a:srgbClr val="FFFFFF"/>
                </a:solidFill>
                <a:latin typeface="Aptos" panose="020B0004020202020204" pitchFamily="34" charset="0"/>
              </a:rPr>
              <a:t>Senal temporal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C208922-EDC4-6A02-55AD-BE8EB12411F2}"/>
              </a:ext>
            </a:extLst>
          </p:cNvPr>
          <p:cNvCxnSpPr/>
          <p:nvPr/>
        </p:nvCxnSpPr>
        <p:spPr>
          <a:xfrm>
            <a:off x="4787900" y="2895600"/>
            <a:ext cx="165100" cy="0"/>
          </a:xfrm>
          <a:prstGeom prst="line">
            <a:avLst/>
          </a:prstGeom>
          <a:ln w="254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5A0A4A4-B3BC-120F-B53A-98E7F8453C6B}"/>
              </a:ext>
            </a:extLst>
          </p:cNvPr>
          <p:cNvSpPr/>
          <p:nvPr/>
        </p:nvSpPr>
        <p:spPr>
          <a:xfrm>
            <a:off x="4953000" y="2413000"/>
            <a:ext cx="2057400" cy="965200"/>
          </a:xfrm>
          <a:prstGeom prst="roundRect">
            <a:avLst/>
          </a:prstGeom>
          <a:solidFill>
            <a:srgbClr val="18383A"/>
          </a:solidFill>
          <a:ln>
            <a:solidFill>
              <a:srgbClr val="42C8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DCA5E48-F2A4-6287-8B89-6DAADE109C87}"/>
              </a:ext>
            </a:extLst>
          </p:cNvPr>
          <p:cNvSpPr txBox="1"/>
          <p:nvPr/>
        </p:nvSpPr>
        <p:spPr>
          <a:xfrm>
            <a:off x="5105400" y="2641600"/>
            <a:ext cx="175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500" b="1">
                <a:solidFill>
                  <a:srgbClr val="FFFFFF"/>
                </a:solidFill>
                <a:latin typeface="Aptos" panose="020B0004020202020204" pitchFamily="34" charset="0"/>
              </a:rPr>
              <a:t>Variables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0616054-9F8B-F51B-A3DC-5A0F903FF335}"/>
              </a:ext>
            </a:extLst>
          </p:cNvPr>
          <p:cNvCxnSpPr/>
          <p:nvPr/>
        </p:nvCxnSpPr>
        <p:spPr>
          <a:xfrm>
            <a:off x="7010400" y="2895600"/>
            <a:ext cx="165100" cy="0"/>
          </a:xfrm>
          <a:prstGeom prst="line">
            <a:avLst/>
          </a:prstGeom>
          <a:ln w="254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E5B441A-5AC6-3082-3DDD-E72354ABB160}"/>
              </a:ext>
            </a:extLst>
          </p:cNvPr>
          <p:cNvSpPr/>
          <p:nvPr/>
        </p:nvSpPr>
        <p:spPr>
          <a:xfrm>
            <a:off x="7175500" y="2413000"/>
            <a:ext cx="2057400" cy="965200"/>
          </a:xfrm>
          <a:prstGeom prst="roundRect">
            <a:avLst/>
          </a:prstGeom>
          <a:solidFill>
            <a:srgbClr val="18383A"/>
          </a:solidFill>
          <a:ln>
            <a:solidFill>
              <a:srgbClr val="42C8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17E91D-E71C-C347-AAD7-372ADFC8B882}"/>
              </a:ext>
            </a:extLst>
          </p:cNvPr>
          <p:cNvSpPr txBox="1"/>
          <p:nvPr/>
        </p:nvSpPr>
        <p:spPr>
          <a:xfrm>
            <a:off x="7327900" y="2641600"/>
            <a:ext cx="175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500" b="1">
                <a:solidFill>
                  <a:srgbClr val="FFFFFF"/>
                </a:solidFill>
                <a:latin typeface="Aptos" panose="020B0004020202020204" pitchFamily="34" charset="0"/>
              </a:rPr>
              <a:t>Reglas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B7CE5B0-4240-6D3D-976C-2A4D25DB8FE5}"/>
              </a:ext>
            </a:extLst>
          </p:cNvPr>
          <p:cNvCxnSpPr/>
          <p:nvPr/>
        </p:nvCxnSpPr>
        <p:spPr>
          <a:xfrm>
            <a:off x="9232900" y="2895600"/>
            <a:ext cx="165100" cy="0"/>
          </a:xfrm>
          <a:prstGeom prst="line">
            <a:avLst/>
          </a:prstGeom>
          <a:ln w="254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2D5D75E-19F0-D306-3DC1-E313C74B1194}"/>
              </a:ext>
            </a:extLst>
          </p:cNvPr>
          <p:cNvSpPr/>
          <p:nvPr/>
        </p:nvSpPr>
        <p:spPr>
          <a:xfrm>
            <a:off x="9398000" y="2413000"/>
            <a:ext cx="2057400" cy="965200"/>
          </a:xfrm>
          <a:prstGeom prst="roundRect">
            <a:avLst/>
          </a:prstGeom>
          <a:solidFill>
            <a:srgbClr val="18383A"/>
          </a:solidFill>
          <a:ln>
            <a:solidFill>
              <a:srgbClr val="42C8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719BA30-FF3B-432A-4714-ADFA51F2BDF3}"/>
              </a:ext>
            </a:extLst>
          </p:cNvPr>
          <p:cNvSpPr txBox="1"/>
          <p:nvPr/>
        </p:nvSpPr>
        <p:spPr>
          <a:xfrm>
            <a:off x="9550400" y="2641600"/>
            <a:ext cx="175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500" b="1">
                <a:solidFill>
                  <a:srgbClr val="FFFFFF"/>
                </a:solidFill>
                <a:latin typeface="Aptos" panose="020B0004020202020204" pitchFamily="34" charset="0"/>
              </a:rPr>
              <a:t>Comparacion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9BBD7FD-9E3A-9771-91C6-5C37750D684C}"/>
              </a:ext>
            </a:extLst>
          </p:cNvPr>
          <p:cNvSpPr txBox="1"/>
          <p:nvPr/>
        </p:nvSpPr>
        <p:spPr>
          <a:xfrm>
            <a:off x="1460500" y="4254500"/>
            <a:ext cx="927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2200" b="1">
                <a:solidFill>
                  <a:srgbClr val="FFFFFF"/>
                </a:solidFill>
                <a:latin typeface="Aptos Display" panose="020B0004020202020204" pitchFamily="34" charset="0"/>
              </a:rPr>
              <a:t>Si una fase no cumple calidad, la siguiente no debe inventar evidencia.</a:t>
            </a:r>
            <a:endParaRPr lang="es-PE" sz="22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81F133-0713-7069-D783-96A79BC9A1BF}"/>
              </a:ext>
            </a:extLst>
          </p:cNvPr>
          <p:cNvSpPr txBox="1"/>
          <p:nvPr/>
        </p:nvSpPr>
        <p:spPr>
          <a:xfrm>
            <a:off x="2286000" y="52070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400">
                <a:solidFill>
                  <a:srgbClr val="42C8C5"/>
                </a:solidFill>
                <a:latin typeface="Cascadia Mono"/>
              </a:rPr>
              <a:t>Video &gt; fotograma &gt; coordenada &gt; fórmula &gt; clasificación</a:t>
            </a:r>
            <a:endParaRPr lang="es-PE" sz="1400">
              <a:solidFill>
                <a:srgbClr val="42C8C5"/>
              </a:solidFill>
              <a:latin typeface="Cascadia Mono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5EB9DF7-5705-B055-432D-5A9B16EF6EA4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621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3685476-BCAB-2A7D-570D-6084B07C2B82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ARQUITECTURA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4DAFC7-B8B9-1905-5B33-821CDAE7BAF3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82327"/>
                </a:solidFill>
                <a:latin typeface="Aptos Display" panose="020B0004020202020204" pitchFamily="34" charset="0"/>
              </a:rPr>
              <a:t>Cada tecnología tiene una responsabilidad</a:t>
            </a:r>
            <a:endParaRPr lang="es-PE" sz="2800" b="1">
              <a:solidFill>
                <a:srgbClr val="082327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2B3D6CA-8C32-11D7-1C20-EA2B5769B033}"/>
              </a:ext>
            </a:extLst>
          </p:cNvPr>
          <p:cNvSpPr/>
          <p:nvPr/>
        </p:nvSpPr>
        <p:spPr>
          <a:xfrm>
            <a:off x="635000" y="1841500"/>
            <a:ext cx="3302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1FE1B-E68D-DBC3-B31A-9130C7639804}"/>
              </a:ext>
            </a:extLst>
          </p:cNvPr>
          <p:cNvSpPr txBox="1"/>
          <p:nvPr/>
        </p:nvSpPr>
        <p:spPr>
          <a:xfrm>
            <a:off x="863600" y="2095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082327"/>
                </a:solidFill>
                <a:latin typeface="Aptos Display" panose="020B0004020202020204" pitchFamily="34" charset="0"/>
              </a:rPr>
              <a:t>OpenCV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A7560D-1863-1E57-635B-7444D16E7E0D}"/>
              </a:ext>
            </a:extLst>
          </p:cNvPr>
          <p:cNvSpPr txBox="1"/>
          <p:nvPr/>
        </p:nvSpPr>
        <p:spPr>
          <a:xfrm>
            <a:off x="863600" y="25781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video y overlay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EF6BEEF-C684-B8CB-6C99-B878CABA71BF}"/>
              </a:ext>
            </a:extLst>
          </p:cNvPr>
          <p:cNvSpPr/>
          <p:nvPr/>
        </p:nvSpPr>
        <p:spPr>
          <a:xfrm>
            <a:off x="4445000" y="1841500"/>
            <a:ext cx="3302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ACD399-009F-BE0F-B725-CE041D698FB2}"/>
              </a:ext>
            </a:extLst>
          </p:cNvPr>
          <p:cNvSpPr txBox="1"/>
          <p:nvPr/>
        </p:nvSpPr>
        <p:spPr>
          <a:xfrm>
            <a:off x="4673600" y="2095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082327"/>
                </a:solidFill>
                <a:latin typeface="Aptos Display" panose="020B0004020202020204" pitchFamily="34" charset="0"/>
              </a:rPr>
              <a:t>MediaPipe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775D7DC-E5A9-3E62-1B43-460186AE5AB2}"/>
              </a:ext>
            </a:extLst>
          </p:cNvPr>
          <p:cNvSpPr txBox="1"/>
          <p:nvPr/>
        </p:nvSpPr>
        <p:spPr>
          <a:xfrm>
            <a:off x="4673600" y="25781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pose 2D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2DBCC92-4225-511B-0BCE-30C0CC88AF91}"/>
              </a:ext>
            </a:extLst>
          </p:cNvPr>
          <p:cNvSpPr/>
          <p:nvPr/>
        </p:nvSpPr>
        <p:spPr>
          <a:xfrm>
            <a:off x="8255000" y="1841500"/>
            <a:ext cx="3302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E02C52-E26F-26B5-09B8-C36C75DCAC06}"/>
              </a:ext>
            </a:extLst>
          </p:cNvPr>
          <p:cNvSpPr txBox="1"/>
          <p:nvPr/>
        </p:nvSpPr>
        <p:spPr>
          <a:xfrm>
            <a:off x="8483600" y="2095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082327"/>
                </a:solidFill>
                <a:latin typeface="Aptos Display" panose="020B0004020202020204" pitchFamily="34" charset="0"/>
              </a:rPr>
              <a:t>pandas + NumPy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7260C45-A89A-EE62-2016-493EB4D31E2D}"/>
              </a:ext>
            </a:extLst>
          </p:cNvPr>
          <p:cNvSpPr txBox="1"/>
          <p:nvPr/>
        </p:nvSpPr>
        <p:spPr>
          <a:xfrm>
            <a:off x="8483600" y="25781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señal y geometría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4F08710-92E3-184C-7AD2-0365688D4B88}"/>
              </a:ext>
            </a:extLst>
          </p:cNvPr>
          <p:cNvSpPr/>
          <p:nvPr/>
        </p:nvSpPr>
        <p:spPr>
          <a:xfrm>
            <a:off x="635000" y="3683000"/>
            <a:ext cx="3302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60B36C8-22B6-BA17-0C64-24388507FA9C}"/>
              </a:ext>
            </a:extLst>
          </p:cNvPr>
          <p:cNvSpPr txBox="1"/>
          <p:nvPr/>
        </p:nvSpPr>
        <p:spPr>
          <a:xfrm>
            <a:off x="863600" y="3937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082327"/>
                </a:solidFill>
                <a:latin typeface="Aptos Display" panose="020B0004020202020204" pitchFamily="34" charset="0"/>
              </a:rPr>
              <a:t>SciPy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29031A-7E07-CC25-98AE-FC2AD77466AA}"/>
              </a:ext>
            </a:extLst>
          </p:cNvPr>
          <p:cNvSpPr txBox="1"/>
          <p:nvPr/>
        </p:nvSpPr>
        <p:spPr>
          <a:xfrm>
            <a:off x="863600" y="44196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fundamento de picos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AD5BD1C-CCB4-D6AE-1B57-517549282AC5}"/>
              </a:ext>
            </a:extLst>
          </p:cNvPr>
          <p:cNvSpPr/>
          <p:nvPr/>
        </p:nvSpPr>
        <p:spPr>
          <a:xfrm>
            <a:off x="4445000" y="3683000"/>
            <a:ext cx="3302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C5FED4-72B4-5FBD-0E16-4515C077950C}"/>
              </a:ext>
            </a:extLst>
          </p:cNvPr>
          <p:cNvSpPr txBox="1"/>
          <p:nvPr/>
        </p:nvSpPr>
        <p:spPr>
          <a:xfrm>
            <a:off x="4673600" y="3937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082327"/>
                </a:solidFill>
                <a:latin typeface="Aptos Display" panose="020B0004020202020204" pitchFamily="34" charset="0"/>
              </a:rPr>
              <a:t>Matplotlib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7DF4DC4-1099-6389-D9FD-8D24B094F724}"/>
              </a:ext>
            </a:extLst>
          </p:cNvPr>
          <p:cNvSpPr txBox="1"/>
          <p:nvPr/>
        </p:nvSpPr>
        <p:spPr>
          <a:xfrm>
            <a:off x="4673600" y="44196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evidencia exportable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866B330-736B-D1B5-F51E-AC1E22AD5244}"/>
              </a:ext>
            </a:extLst>
          </p:cNvPr>
          <p:cNvSpPr/>
          <p:nvPr/>
        </p:nvSpPr>
        <p:spPr>
          <a:xfrm>
            <a:off x="8255000" y="3683000"/>
            <a:ext cx="3302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B34E0D-785C-966B-B4EE-6D57B70F6C51}"/>
              </a:ext>
            </a:extLst>
          </p:cNvPr>
          <p:cNvSpPr txBox="1"/>
          <p:nvPr/>
        </p:nvSpPr>
        <p:spPr>
          <a:xfrm>
            <a:off x="8483600" y="3937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082327"/>
                </a:solidFill>
                <a:latin typeface="Aptos Display" panose="020B0004020202020204" pitchFamily="34" charset="0"/>
              </a:rPr>
              <a:t>FastAPI + Next.js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A1B4E2C-A500-9CA7-18A8-0B754885BF98}"/>
              </a:ext>
            </a:extLst>
          </p:cNvPr>
          <p:cNvSpPr txBox="1"/>
          <p:nvPr/>
        </p:nvSpPr>
        <p:spPr>
          <a:xfrm>
            <a:off x="8483600" y="44196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contrato e interfaz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6C1F83A-F392-86E5-A640-E37990D20944}"/>
              </a:ext>
            </a:extLst>
          </p:cNvPr>
          <p:cNvSpPr txBox="1"/>
          <p:nvPr/>
        </p:nvSpPr>
        <p:spPr>
          <a:xfrm>
            <a:off x="635000" y="5842000"/>
            <a:ext cx="1092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700" b="1">
                <a:solidFill>
                  <a:srgbClr val="E7634D"/>
                </a:solidFill>
                <a:latin typeface="Cascadia Mono"/>
              </a:rPr>
              <a:t>La web presenta; el backend calcula.</a:t>
            </a:r>
            <a:endParaRPr lang="es-PE" sz="1700" b="1">
              <a:solidFill>
                <a:srgbClr val="E7634D"/>
              </a:solidFill>
              <a:latin typeface="Cascadia Mono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4391D38-5B65-B2F2-8CF9-D1AD82D9F972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3043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9F149D-3B2F-9748-7A57-A49D2C85B922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2 / POSE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F457E7-ED56-F0D8-82C2-4E6BB29BA861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800" b="1">
                <a:solidFill>
                  <a:srgbClr val="FFFFFF"/>
                </a:solidFill>
                <a:latin typeface="Aptos Display" panose="020B0004020202020204" pitchFamily="34" charset="0"/>
              </a:rPr>
              <a:t>De 33 puntos a 13 referencias relevantes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C01985-7ADF-9102-3D67-4EC5553C5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403" y="2338622"/>
            <a:ext cx="1761995" cy="31332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6EA125-4AC5-D7AD-46B1-E66B2992EE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603" y="2338622"/>
            <a:ext cx="1761995" cy="313325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F09DB89-7A79-2206-0FB0-2D0C3A22AB54}"/>
              </a:ext>
            </a:extLst>
          </p:cNvPr>
          <p:cNvSpPr txBox="1"/>
          <p:nvPr/>
        </p:nvSpPr>
        <p:spPr>
          <a:xfrm>
            <a:off x="8966200" y="1841500"/>
            <a:ext cx="241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3400" b="1">
                <a:solidFill>
                  <a:srgbClr val="42C8C5"/>
                </a:solidFill>
                <a:latin typeface="Aptos Display" panose="020B0004020202020204" pitchFamily="34" charset="0"/>
              </a:rPr>
              <a:t>13 / 13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DBE077-4C5B-D053-C23B-BDEAB9B74897}"/>
              </a:ext>
            </a:extLst>
          </p:cNvPr>
          <p:cNvSpPr txBox="1"/>
          <p:nvPr/>
        </p:nvSpPr>
        <p:spPr>
          <a:xfrm>
            <a:off x="8966200" y="2438400"/>
            <a:ext cx="241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400">
                <a:solidFill>
                  <a:srgbClr val="FFFFFF"/>
                </a:solidFill>
                <a:latin typeface="Aptos" panose="020B0004020202020204" pitchFamily="34" charset="0"/>
              </a:rPr>
              <a:t>puntos detectados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E29287-4662-BC7A-8C3F-6EDA53B5865B}"/>
              </a:ext>
            </a:extLst>
          </p:cNvPr>
          <p:cNvSpPr txBox="1"/>
          <p:nvPr/>
        </p:nvSpPr>
        <p:spPr>
          <a:xfrm>
            <a:off x="8940800" y="3302000"/>
            <a:ext cx="2463800" cy="13080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700">
                <a:solidFill>
                  <a:srgbClr val="E8E4DA"/>
                </a:solidFill>
                <a:latin typeface="Aptos" panose="020B0004020202020204" pitchFamily="34" charset="0"/>
              </a:rPr>
              <a:t>8 puntos centrales forman las referencias biomecanicas; talon o punta completa el apoyo distal.</a:t>
            </a:r>
            <a:endParaRPr lang="es-PE" sz="1700">
              <a:solidFill>
                <a:srgbClr val="E8E4DA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557BFD-F1BC-0B8B-55A1-70A16756EE29}"/>
              </a:ext>
            </a:extLst>
          </p:cNvPr>
          <p:cNvSpPr txBox="1"/>
          <p:nvPr/>
        </p:nvSpPr>
        <p:spPr>
          <a:xfrm>
            <a:off x="8890000" y="53340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0B64B"/>
                </a:solidFill>
                <a:latin typeface="Cascadia Mono"/>
              </a:rPr>
              <a:t>Overlay + landmarks.csv + frame_quality.csv</a:t>
            </a:r>
            <a:endParaRPr lang="es-PE" sz="1000" b="1">
              <a:solidFill>
                <a:srgbClr val="F0B64B"/>
              </a:solidFill>
              <a:latin typeface="Cascadia Mono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271A36-54EE-E796-3CE2-0B625A54DBA4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125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4F6784E-AB45-C17B-C751-33891E459E8F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3 / SEÑAL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6979E9-4756-AB13-D594-0B1887812560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82327"/>
                </a:solidFill>
                <a:latin typeface="Aptos Display" panose="020B0004020202020204" pitchFamily="34" charset="0"/>
              </a:rPr>
              <a:t>La cadera convierte el movimiento en una curva</a:t>
            </a:r>
            <a:endParaRPr lang="es-PE" sz="2800" b="1">
              <a:solidFill>
                <a:srgbClr val="082327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46A7A4-B55F-662A-F907-BA1F327246BC}"/>
              </a:ext>
            </a:extLst>
          </p:cNvPr>
          <p:cNvSpPr txBox="1"/>
          <p:nvPr/>
        </p:nvSpPr>
        <p:spPr>
          <a:xfrm>
            <a:off x="698500" y="1574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b="1">
                <a:solidFill>
                  <a:srgbClr val="E7634D"/>
                </a:solidFill>
                <a:latin typeface="Cascadia Mono"/>
              </a:rPr>
              <a:t>hip_midpoint_y = (y cadera izquierda + y cadera derecha) / 2</a:t>
            </a:r>
            <a:endParaRPr lang="es-PE" b="1">
              <a:solidFill>
                <a:srgbClr val="E7634D"/>
              </a:solidFill>
              <a:latin typeface="Cascadia Mono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32C54E-E76E-F21D-0E11-020713B0E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871" y="3140604"/>
            <a:ext cx="1074258" cy="1910292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CBE4371-191B-FB5D-C577-35C4FE86A126}"/>
              </a:ext>
            </a:extLst>
          </p:cNvPr>
          <p:cNvCxnSpPr/>
          <p:nvPr/>
        </p:nvCxnSpPr>
        <p:spPr>
          <a:xfrm>
            <a:off x="4000500" y="4127500"/>
            <a:ext cx="1460500" cy="0"/>
          </a:xfrm>
          <a:prstGeom prst="line">
            <a:avLst/>
          </a:prstGeom>
          <a:ln w="381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ED1CFDDF-EDC6-5D56-B595-447BD0D78629}"/>
              </a:ext>
            </a:extLst>
          </p:cNvPr>
          <p:cNvSpPr txBox="1"/>
          <p:nvPr/>
        </p:nvSpPr>
        <p:spPr>
          <a:xfrm>
            <a:off x="4191000" y="3365500"/>
            <a:ext cx="1079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400" b="1">
                <a:solidFill>
                  <a:srgbClr val="082327"/>
                </a:solidFill>
                <a:latin typeface="Aptos" panose="020B0004020202020204" pitchFamily="34" charset="0"/>
              </a:rPr>
              <a:t>Y crece
hacia abajo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17CA5F8-1C85-DBF9-E214-4993C6B9D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871" y="3140604"/>
            <a:ext cx="1074258" cy="1910292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4BA6C78-B3D5-3572-DF45-E867A45C9C40}"/>
              </a:ext>
            </a:extLst>
          </p:cNvPr>
          <p:cNvSpPr/>
          <p:nvPr/>
        </p:nvSpPr>
        <p:spPr>
          <a:xfrm>
            <a:off x="9144000" y="2476500"/>
            <a:ext cx="2349500" cy="2667000"/>
          </a:xfrm>
          <a:prstGeom prst="roundRect">
            <a:avLst/>
          </a:prstGeom>
          <a:solidFill>
            <a:srgbClr val="082327"/>
          </a:solidFill>
          <a:ln>
            <a:solidFill>
              <a:srgbClr val="0823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8115587-CB2F-EB5C-F4C4-6A1C550CBA6C}"/>
              </a:ext>
            </a:extLst>
          </p:cNvPr>
          <p:cNvSpPr txBox="1"/>
          <p:nvPr/>
        </p:nvSpPr>
        <p:spPr>
          <a:xfrm>
            <a:off x="9423400" y="27940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900" b="1">
                <a:solidFill>
                  <a:srgbClr val="42C8C5"/>
                </a:solidFill>
                <a:latin typeface="Cascadia Mono"/>
              </a:rPr>
              <a:t>REPOSO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A625709-BD7B-A110-3A61-8325567F9F6F}"/>
              </a:ext>
            </a:extLst>
          </p:cNvPr>
          <p:cNvSpPr txBox="1"/>
          <p:nvPr/>
        </p:nvSpPr>
        <p:spPr>
          <a:xfrm>
            <a:off x="9423400" y="31115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b="1">
                <a:solidFill>
                  <a:srgbClr val="FFFFFF"/>
                </a:solidFill>
                <a:latin typeface="Aptos Display" panose="020B0004020202020204" pitchFamily="34" charset="0"/>
              </a:rPr>
              <a:t>y mas pequeno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2360F6E-A8D9-6200-9E7A-05AC3DAF1492}"/>
              </a:ext>
            </a:extLst>
          </p:cNvPr>
          <p:cNvSpPr txBox="1"/>
          <p:nvPr/>
        </p:nvSpPr>
        <p:spPr>
          <a:xfrm>
            <a:off x="9423400" y="39370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900" b="1">
                <a:solidFill>
                  <a:srgbClr val="F0B64B"/>
                </a:solidFill>
                <a:latin typeface="Cascadia Mono"/>
              </a:rPr>
              <a:t>PROFUNDIDAD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07753B5-5F58-E6E3-ADB5-B356179203D4}"/>
              </a:ext>
            </a:extLst>
          </p:cNvPr>
          <p:cNvSpPr txBox="1"/>
          <p:nvPr/>
        </p:nvSpPr>
        <p:spPr>
          <a:xfrm>
            <a:off x="9423400" y="42545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b="1">
                <a:solidFill>
                  <a:srgbClr val="FFFFFF"/>
                </a:solidFill>
                <a:latin typeface="Aptos Display" panose="020B0004020202020204" pitchFamily="34" charset="0"/>
              </a:rPr>
              <a:t>máximo local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F5F7F21-3D35-6D8E-0C58-1202E43D2923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6383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C96DB7D-6707-A508-15CB-D5257C4EEB79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3 / LIMPIEZA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861D26-F3AE-1579-33D5-59E3196FEAC3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82327"/>
                </a:solidFill>
                <a:latin typeface="Aptos Display" panose="020B0004020202020204" pitchFamily="34" charset="0"/>
              </a:rPr>
              <a:t>Tres operaciones; tres problemas distintos</a:t>
            </a:r>
            <a:endParaRPr lang="es-PE" sz="2800" b="1">
              <a:solidFill>
                <a:srgbClr val="082327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954F15-10B8-FDAD-058E-32012A7C6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116" y="2275122"/>
            <a:ext cx="4274267" cy="313325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0C4913D3-AD23-4B7F-434E-24FC3A225F6B}"/>
              </a:ext>
            </a:extLst>
          </p:cNvPr>
          <p:cNvSpPr/>
          <p:nvPr/>
        </p:nvSpPr>
        <p:spPr>
          <a:xfrm>
            <a:off x="8267700" y="1727200"/>
            <a:ext cx="431800" cy="4318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229E3D-3744-B1F4-9209-4A6262832179}"/>
              </a:ext>
            </a:extLst>
          </p:cNvPr>
          <p:cNvSpPr txBox="1"/>
          <p:nvPr/>
        </p:nvSpPr>
        <p:spPr>
          <a:xfrm>
            <a:off x="8382000" y="1803400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100" b="1">
                <a:solidFill>
                  <a:srgbClr val="071A1B"/>
                </a:solidFill>
                <a:latin typeface="Cascadia Mono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C29B83-CDF6-8751-A6E8-EAC595025E7E}"/>
              </a:ext>
            </a:extLst>
          </p:cNvPr>
          <p:cNvSpPr txBox="1"/>
          <p:nvPr/>
        </p:nvSpPr>
        <p:spPr>
          <a:xfrm>
            <a:off x="8953500" y="17145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700" b="1">
                <a:solidFill>
                  <a:srgbClr val="082327"/>
                </a:solidFill>
                <a:latin typeface="Aptos Display" panose="020B0004020202020204" pitchFamily="34" charset="0"/>
              </a:rPr>
              <a:t>Interpolacion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BEEFFD-8113-AA2C-D143-11AAC846809C}"/>
              </a:ext>
            </a:extLst>
          </p:cNvPr>
          <p:cNvSpPr txBox="1"/>
          <p:nvPr/>
        </p:nvSpPr>
        <p:spPr>
          <a:xfrm>
            <a:off x="8953500" y="21082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huecos aislados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B69F7E2-7E19-E3B7-0F7A-F822D97D1675}"/>
              </a:ext>
            </a:extLst>
          </p:cNvPr>
          <p:cNvSpPr/>
          <p:nvPr/>
        </p:nvSpPr>
        <p:spPr>
          <a:xfrm>
            <a:off x="8267700" y="3098800"/>
            <a:ext cx="431800" cy="431800"/>
          </a:xfrm>
          <a:prstGeom prst="ellipse">
            <a:avLst/>
          </a:prstGeom>
          <a:solidFill>
            <a:srgbClr val="F0B6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BE0E1A-11F3-8BF0-E9BA-30FD633666CB}"/>
              </a:ext>
            </a:extLst>
          </p:cNvPr>
          <p:cNvSpPr txBox="1"/>
          <p:nvPr/>
        </p:nvSpPr>
        <p:spPr>
          <a:xfrm>
            <a:off x="8382000" y="3175000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100" b="1">
                <a:solidFill>
                  <a:srgbClr val="071A1B"/>
                </a:solidFill>
                <a:latin typeface="Cascadia Mono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46639BE-BE58-4717-CDEA-18A5A4558394}"/>
              </a:ext>
            </a:extLst>
          </p:cNvPr>
          <p:cNvSpPr txBox="1"/>
          <p:nvPr/>
        </p:nvSpPr>
        <p:spPr>
          <a:xfrm>
            <a:off x="8953500" y="30861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700" b="1">
                <a:solidFill>
                  <a:srgbClr val="082327"/>
                </a:solidFill>
                <a:latin typeface="Aptos Display" panose="020B0004020202020204" pitchFamily="34" charset="0"/>
              </a:rPr>
              <a:t>Mediana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763358-E787-9765-DD5C-8CB4EC8FEC42}"/>
              </a:ext>
            </a:extLst>
          </p:cNvPr>
          <p:cNvSpPr txBox="1"/>
          <p:nvPr/>
        </p:nvSpPr>
        <p:spPr>
          <a:xfrm>
            <a:off x="8953500" y="34798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saltos puntuales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A4A0905-F6F4-51A4-9089-61A6322D8804}"/>
              </a:ext>
            </a:extLst>
          </p:cNvPr>
          <p:cNvSpPr/>
          <p:nvPr/>
        </p:nvSpPr>
        <p:spPr>
          <a:xfrm>
            <a:off x="8267700" y="4470400"/>
            <a:ext cx="431800" cy="431800"/>
          </a:xfrm>
          <a:prstGeom prst="ellipse">
            <a:avLst/>
          </a:prstGeom>
          <a:solidFill>
            <a:srgbClr val="E763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5CEC5CB-012D-A0FD-E5FA-3CD7DB24B2AD}"/>
              </a:ext>
            </a:extLst>
          </p:cNvPr>
          <p:cNvSpPr txBox="1"/>
          <p:nvPr/>
        </p:nvSpPr>
        <p:spPr>
          <a:xfrm>
            <a:off x="8382000" y="4546600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100" b="1">
                <a:solidFill>
                  <a:srgbClr val="071A1B"/>
                </a:solidFill>
                <a:latin typeface="Cascadia Mono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24FA5C3-2F99-F1A2-6B93-A2907BBC0883}"/>
              </a:ext>
            </a:extLst>
          </p:cNvPr>
          <p:cNvSpPr txBox="1"/>
          <p:nvPr/>
        </p:nvSpPr>
        <p:spPr>
          <a:xfrm>
            <a:off x="8953500" y="44577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700" b="1">
                <a:solidFill>
                  <a:srgbClr val="082327"/>
                </a:solidFill>
                <a:latin typeface="Aptos Display" panose="020B0004020202020204" pitchFamily="34" charset="0"/>
              </a:rPr>
              <a:t>Promedio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4AEA295-D52A-FEF1-E6B8-A7C7D7A78978}"/>
              </a:ext>
            </a:extLst>
          </p:cNvPr>
          <p:cNvSpPr txBox="1"/>
          <p:nvPr/>
        </p:nvSpPr>
        <p:spPr>
          <a:xfrm>
            <a:off x="8953500" y="48514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6B7C7E"/>
                </a:solidFill>
                <a:latin typeface="Aptos" panose="020B0004020202020204" pitchFamily="34" charset="0"/>
              </a:rPr>
              <a:t>vibracion residual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28BB2CE-E7BA-3BF1-F193-05EDB5038122}"/>
              </a:ext>
            </a:extLst>
          </p:cNvPr>
          <p:cNvSpPr txBox="1"/>
          <p:nvPr/>
        </p:nvSpPr>
        <p:spPr>
          <a:xfrm>
            <a:off x="8255000" y="5943600"/>
            <a:ext cx="336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E7634D"/>
                </a:solidFill>
                <a:latin typeface="Cascadia Mono"/>
              </a:rPr>
              <a:t>Interpolar no convierte un fotograma deficiente en valido.</a:t>
            </a:r>
            <a:endParaRPr lang="es-PE" sz="1200" b="1">
              <a:solidFill>
                <a:srgbClr val="E7634D"/>
              </a:solidFill>
              <a:latin typeface="Cascadia Mono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5A5B522-36A1-0F40-4E45-5A6F57429BA1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8065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C5F3A8-9222-36CB-1B66-9DB740C47620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3 / PROMINENCIA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C4BD28F-6773-03BA-053F-3D70824FDD7D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FFFFFF"/>
                </a:solidFill>
                <a:latin typeface="Aptos Display" panose="020B0004020202020204" pitchFamily="34" charset="0"/>
              </a:rPr>
              <a:t>No todo máximo local es una sentadilla</a:t>
            </a:r>
            <a:endParaRPr lang="es-PE" sz="28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F9EAEC-9839-32F1-7D59-1807CB1B5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674" y="2747382"/>
            <a:ext cx="4527351" cy="21252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180E0E-364F-9691-B091-EDFB6FB42034}"/>
              </a:ext>
            </a:extLst>
          </p:cNvPr>
          <p:cNvSpPr txBox="1"/>
          <p:nvPr/>
        </p:nvSpPr>
        <p:spPr>
          <a:xfrm>
            <a:off x="8318500" y="1905000"/>
            <a:ext cx="317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700" b="1">
                <a:solidFill>
                  <a:srgbClr val="42C8C5"/>
                </a:solidFill>
                <a:latin typeface="Cascadia Mono"/>
              </a:rPr>
              <a:t>prom(p) =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C7F84E-C45B-4726-C0F3-9DEDB41AE9FA}"/>
              </a:ext>
            </a:extLst>
          </p:cNvPr>
          <p:cNvSpPr txBox="1"/>
          <p:nvPr/>
        </p:nvSpPr>
        <p:spPr>
          <a:xfrm>
            <a:off x="8318500" y="2349500"/>
            <a:ext cx="317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000" b="1">
                <a:solidFill>
                  <a:srgbClr val="FFFFFF"/>
                </a:solidFill>
                <a:latin typeface="Aptos Display" panose="020B0004020202020204" pitchFamily="34" charset="0"/>
              </a:rPr>
              <a:t>señal(p) - max(base izq., base der.)</a:t>
            </a:r>
            <a:endParaRPr lang="es-PE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D64C196-AC26-B079-7B82-099BBF8D5D8A}"/>
              </a:ext>
            </a:extLst>
          </p:cNvPr>
          <p:cNvCxnSpPr/>
          <p:nvPr/>
        </p:nvCxnSpPr>
        <p:spPr>
          <a:xfrm>
            <a:off x="8318500" y="3530600"/>
            <a:ext cx="3111500" cy="0"/>
          </a:xfrm>
          <a:prstGeom prst="line">
            <a:avLst/>
          </a:prstGeom>
          <a:ln w="254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A7031B0-F876-DC4A-2C55-B39EAFA60B44}"/>
              </a:ext>
            </a:extLst>
          </p:cNvPr>
          <p:cNvSpPr txBox="1"/>
          <p:nvPr/>
        </p:nvSpPr>
        <p:spPr>
          <a:xfrm>
            <a:off x="8318500" y="38735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100" b="1">
                <a:solidFill>
                  <a:srgbClr val="F0B64B"/>
                </a:solidFill>
                <a:latin typeface="Cascadia Mono"/>
              </a:rPr>
              <a:t>Umbral adaptativo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5A9BE5-23EE-91F7-C0B2-8CBAE9355407}"/>
              </a:ext>
            </a:extLst>
          </p:cNvPr>
          <p:cNvSpPr txBox="1"/>
          <p:nvPr/>
        </p:nvSpPr>
        <p:spPr>
          <a:xfrm>
            <a:off x="8318500" y="4267200"/>
            <a:ext cx="317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700" b="1">
                <a:solidFill>
                  <a:srgbClr val="FFFFFF"/>
                </a:solidFill>
                <a:latin typeface="Aptos" panose="020B0004020202020204" pitchFamily="34" charset="0"/>
              </a:rPr>
              <a:t>max(0.03, 0.18 x rango robusto)</a:t>
            </a:r>
            <a:endParaRPr lang="es-PE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C153677-60D1-4BF2-D42E-B61B189DE9DC}"/>
              </a:ext>
            </a:extLst>
          </p:cNvPr>
          <p:cNvSpPr txBox="1"/>
          <p:nvPr/>
        </p:nvSpPr>
        <p:spPr>
          <a:xfrm>
            <a:off x="8318500" y="5207000"/>
            <a:ext cx="317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300">
                <a:solidFill>
                  <a:srgbClr val="E8E4DA"/>
                </a:solidFill>
                <a:latin typeface="Aptos" panose="020B0004020202020204" pitchFamily="34" charset="0"/>
              </a:rPr>
              <a:t>Caso: mínimo 0.03145
Picos: 0.06266 / 0.06623 / 0.08787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B18D921-007E-298C-1FA0-B54DCE6C58D2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7883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85D5A2-B525-DD9F-A0F2-3188A1A5F83F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VALIDACIÓN AÑADIDA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10AED-9C82-0689-D4EF-57C80C6229C1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82327"/>
                </a:solidFill>
                <a:latin typeface="Aptos Display" panose="020B0004020202020204" pitchFamily="34" charset="0"/>
              </a:rPr>
              <a:t>Una pausa profunda no es otra repetición</a:t>
            </a:r>
            <a:endParaRPr lang="es-PE" sz="2800" b="1">
              <a:solidFill>
                <a:srgbClr val="082327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0898BB-9E86-3BE1-A408-6EC8A8289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172" y="2432991"/>
            <a:ext cx="4145856" cy="2881019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97BDC48-E155-97F9-1DFB-7269E387D72E}"/>
              </a:ext>
            </a:extLst>
          </p:cNvPr>
          <p:cNvSpPr/>
          <p:nvPr/>
        </p:nvSpPr>
        <p:spPr>
          <a:xfrm>
            <a:off x="8445500" y="1778000"/>
            <a:ext cx="3111500" cy="1168400"/>
          </a:xfrm>
          <a:prstGeom prst="roundRect">
            <a:avLst/>
          </a:prstGeom>
          <a:solidFill>
            <a:srgbClr val="082327"/>
          </a:solidFill>
          <a:ln>
            <a:solidFill>
              <a:srgbClr val="0823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67647A-0EDE-EB53-EDD1-19CC1DAFA6A1}"/>
              </a:ext>
            </a:extLst>
          </p:cNvPr>
          <p:cNvSpPr txBox="1"/>
          <p:nvPr/>
        </p:nvSpPr>
        <p:spPr>
          <a:xfrm>
            <a:off x="8699500" y="2032000"/>
            <a:ext cx="2603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700" b="1">
                <a:solidFill>
                  <a:srgbClr val="FFFFFF"/>
                </a:solidFill>
                <a:latin typeface="Aptos Display" panose="020B0004020202020204" pitchFamily="34" charset="0"/>
              </a:rPr>
              <a:t>2.002 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D37D24-0748-EF1E-DCC8-51A03CE3720B}"/>
              </a:ext>
            </a:extLst>
          </p:cNvPr>
          <p:cNvSpPr txBox="1"/>
          <p:nvPr/>
        </p:nvSpPr>
        <p:spPr>
          <a:xfrm>
            <a:off x="8699500" y="25146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100" b="1">
                <a:solidFill>
                  <a:srgbClr val="42C8C5"/>
                </a:solidFill>
                <a:latin typeface="Cascadia Mono"/>
              </a:rPr>
              <a:t>entre candidatos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1D49B8C-23D2-03F2-30CB-6A8636B988A8}"/>
              </a:ext>
            </a:extLst>
          </p:cNvPr>
          <p:cNvSpPr/>
          <p:nvPr/>
        </p:nvSpPr>
        <p:spPr>
          <a:xfrm>
            <a:off x="8445500" y="3200400"/>
            <a:ext cx="3111500" cy="1168400"/>
          </a:xfrm>
          <a:prstGeom prst="roundRect">
            <a:avLst/>
          </a:prstGeom>
          <a:solidFill>
            <a:srgbClr val="E7634D"/>
          </a:solidFill>
          <a:ln>
            <a:solidFill>
              <a:srgbClr val="E76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243E0AF-A13D-9FE3-1456-B8DD559280D7}"/>
              </a:ext>
            </a:extLst>
          </p:cNvPr>
          <p:cNvSpPr txBox="1"/>
          <p:nvPr/>
        </p:nvSpPr>
        <p:spPr>
          <a:xfrm>
            <a:off x="8699500" y="3454400"/>
            <a:ext cx="2603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700" b="1">
                <a:solidFill>
                  <a:srgbClr val="FFFFFF"/>
                </a:solidFill>
                <a:latin typeface="Aptos Display" panose="020B0004020202020204" pitchFamily="34" charset="0"/>
              </a:rPr>
              <a:t>0.000204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1C7E6D-CB37-363C-527B-632F2C22E430}"/>
              </a:ext>
            </a:extLst>
          </p:cNvPr>
          <p:cNvSpPr txBox="1"/>
          <p:nvPr/>
        </p:nvSpPr>
        <p:spPr>
          <a:xfrm>
            <a:off x="8699500" y="39370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100" b="1">
                <a:solidFill>
                  <a:srgbClr val="FFFFFF"/>
                </a:solidFill>
                <a:latin typeface="Cascadia Mono"/>
              </a:rPr>
              <a:t>recuperación vertical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20C8AD-6131-59B2-A8F6-D770A88CD01C}"/>
              </a:ext>
            </a:extLst>
          </p:cNvPr>
          <p:cNvSpPr txBox="1"/>
          <p:nvPr/>
        </p:nvSpPr>
        <p:spPr>
          <a:xfrm>
            <a:off x="8445500" y="4851400"/>
            <a:ext cx="3111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 b="1">
                <a:solidFill>
                  <a:srgbClr val="082327"/>
                </a:solidFill>
                <a:latin typeface="Aptos" panose="020B0004020202020204" pitchFamily="34" charset="0"/>
              </a:rPr>
              <a:t>Si recuperación &lt; prominencia minima, se fusionan los candidatos.</a:t>
            </a:r>
            <a:endParaRPr lang="es-PE" sz="1600" b="1">
              <a:solidFill>
                <a:srgbClr val="082327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A69D148-3991-805F-6675-BE1791D64469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6380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977141-D1D0-87BF-00B0-D1FDB01A0CC2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3 / ETIQUETAS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219882-E1C4-7E7F-8B25-C9EA91DB3986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800" b="1">
                <a:solidFill>
                  <a:srgbClr val="FFFFFF"/>
                </a:solidFill>
                <a:latin typeface="Aptos Display" panose="020B0004020202020204" pitchFamily="34" charset="0"/>
              </a:rPr>
              <a:t>Del pico a una ejecucion completa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201A833-CBAB-F416-69D5-19AFA8A55CD5}"/>
              </a:ext>
            </a:extLst>
          </p:cNvPr>
          <p:cNvSpPr/>
          <p:nvPr/>
        </p:nvSpPr>
        <p:spPr>
          <a:xfrm>
            <a:off x="609600" y="3340100"/>
            <a:ext cx="304800" cy="3048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DD10034-22F0-D8A3-3ED6-ABC2339AD22B}"/>
              </a:ext>
            </a:extLst>
          </p:cNvPr>
          <p:cNvCxnSpPr/>
          <p:nvPr/>
        </p:nvCxnSpPr>
        <p:spPr>
          <a:xfrm>
            <a:off x="914400" y="3492500"/>
            <a:ext cx="1536700" cy="0"/>
          </a:xfrm>
          <a:prstGeom prst="line">
            <a:avLst/>
          </a:prstGeom>
          <a:ln w="63500">
            <a:solidFill>
              <a:srgbClr val="18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C48317E-DFBD-BC5E-7C03-2532AD19C0AF}"/>
              </a:ext>
            </a:extLst>
          </p:cNvPr>
          <p:cNvSpPr txBox="1"/>
          <p:nvPr/>
        </p:nvSpPr>
        <p:spPr>
          <a:xfrm>
            <a:off x="63500" y="39370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300">
                <a:solidFill>
                  <a:srgbClr val="FFFFFF"/>
                </a:solidFill>
                <a:latin typeface="Aptos" panose="020B0004020202020204" pitchFamily="34" charset="0"/>
              </a:rPr>
              <a:t>Reposo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805546B-48A9-980B-FD47-C87F4214093C}"/>
              </a:ext>
            </a:extLst>
          </p:cNvPr>
          <p:cNvSpPr/>
          <p:nvPr/>
        </p:nvSpPr>
        <p:spPr>
          <a:xfrm>
            <a:off x="2451100" y="3340100"/>
            <a:ext cx="304800" cy="3048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FB6E412-1B26-970A-0DCA-80E4AEC3B440}"/>
              </a:ext>
            </a:extLst>
          </p:cNvPr>
          <p:cNvCxnSpPr/>
          <p:nvPr/>
        </p:nvCxnSpPr>
        <p:spPr>
          <a:xfrm>
            <a:off x="2755900" y="3492500"/>
            <a:ext cx="1409700" cy="0"/>
          </a:xfrm>
          <a:prstGeom prst="line">
            <a:avLst/>
          </a:prstGeom>
          <a:ln w="63500">
            <a:solidFill>
              <a:srgbClr val="18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5433597-CDAC-CE0D-900E-3B79C52A4F2D}"/>
              </a:ext>
            </a:extLst>
          </p:cNvPr>
          <p:cNvSpPr txBox="1"/>
          <p:nvPr/>
        </p:nvSpPr>
        <p:spPr>
          <a:xfrm>
            <a:off x="1905000" y="39370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300">
                <a:solidFill>
                  <a:srgbClr val="FFFFFF"/>
                </a:solidFill>
                <a:latin typeface="Aptos" panose="020B0004020202020204" pitchFamily="34" charset="0"/>
              </a:rPr>
              <a:t>Inicio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6E0B85F-4C39-A9E9-2D53-5684629EC29A}"/>
              </a:ext>
            </a:extLst>
          </p:cNvPr>
          <p:cNvSpPr/>
          <p:nvPr/>
        </p:nvSpPr>
        <p:spPr>
          <a:xfrm>
            <a:off x="4165600" y="3340100"/>
            <a:ext cx="304800" cy="3048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DAA806D-AE92-C290-CF62-1E924F6ED2DC}"/>
              </a:ext>
            </a:extLst>
          </p:cNvPr>
          <p:cNvCxnSpPr/>
          <p:nvPr/>
        </p:nvCxnSpPr>
        <p:spPr>
          <a:xfrm>
            <a:off x="4470400" y="3492500"/>
            <a:ext cx="1346200" cy="0"/>
          </a:xfrm>
          <a:prstGeom prst="line">
            <a:avLst/>
          </a:prstGeom>
          <a:ln w="63500">
            <a:solidFill>
              <a:srgbClr val="18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7D486C4-2410-B2C5-D082-502BD529B8A7}"/>
              </a:ext>
            </a:extLst>
          </p:cNvPr>
          <p:cNvSpPr txBox="1"/>
          <p:nvPr/>
        </p:nvSpPr>
        <p:spPr>
          <a:xfrm>
            <a:off x="3619500" y="39370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300">
                <a:solidFill>
                  <a:srgbClr val="FFFFFF"/>
                </a:solidFill>
                <a:latin typeface="Aptos" panose="020B0004020202020204" pitchFamily="34" charset="0"/>
              </a:rPr>
              <a:t>Descenso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39EF381-454F-8761-253C-7504CFAA1DF7}"/>
              </a:ext>
            </a:extLst>
          </p:cNvPr>
          <p:cNvSpPr/>
          <p:nvPr/>
        </p:nvSpPr>
        <p:spPr>
          <a:xfrm>
            <a:off x="5816600" y="3340100"/>
            <a:ext cx="304800" cy="304800"/>
          </a:xfrm>
          <a:prstGeom prst="ellipse">
            <a:avLst/>
          </a:prstGeom>
          <a:solidFill>
            <a:srgbClr val="F0B6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FEBF46F-AF6A-B705-827B-B3E9A3B4B84E}"/>
              </a:ext>
            </a:extLst>
          </p:cNvPr>
          <p:cNvCxnSpPr/>
          <p:nvPr/>
        </p:nvCxnSpPr>
        <p:spPr>
          <a:xfrm>
            <a:off x="6121400" y="3492500"/>
            <a:ext cx="2171700" cy="0"/>
          </a:xfrm>
          <a:prstGeom prst="line">
            <a:avLst/>
          </a:prstGeom>
          <a:ln w="63500">
            <a:solidFill>
              <a:srgbClr val="18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8783CB9-7068-163D-0B1E-55556DAADD90}"/>
              </a:ext>
            </a:extLst>
          </p:cNvPr>
          <p:cNvSpPr txBox="1"/>
          <p:nvPr/>
        </p:nvSpPr>
        <p:spPr>
          <a:xfrm>
            <a:off x="5270500" y="3937000"/>
            <a:ext cx="1397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300" b="1">
                <a:solidFill>
                  <a:srgbClr val="FFFFFF"/>
                </a:solidFill>
                <a:latin typeface="Aptos" panose="020B0004020202020204" pitchFamily="34" charset="0"/>
              </a:rPr>
              <a:t>Maxima profundidad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524FF76-F4EE-224C-B537-3DD55FD72950}"/>
              </a:ext>
            </a:extLst>
          </p:cNvPr>
          <p:cNvSpPr/>
          <p:nvPr/>
        </p:nvSpPr>
        <p:spPr>
          <a:xfrm>
            <a:off x="8293100" y="3340100"/>
            <a:ext cx="304800" cy="3048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CED0DB1-81C3-387D-74F5-2C60E5FCDD00}"/>
              </a:ext>
            </a:extLst>
          </p:cNvPr>
          <p:cNvCxnSpPr/>
          <p:nvPr/>
        </p:nvCxnSpPr>
        <p:spPr>
          <a:xfrm>
            <a:off x="8597900" y="3492500"/>
            <a:ext cx="1536700" cy="0"/>
          </a:xfrm>
          <a:prstGeom prst="line">
            <a:avLst/>
          </a:prstGeom>
          <a:ln w="63500">
            <a:solidFill>
              <a:srgbClr val="18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13EA2AC-3A51-4668-B2E7-5A13A7A5B5E4}"/>
              </a:ext>
            </a:extLst>
          </p:cNvPr>
          <p:cNvSpPr txBox="1"/>
          <p:nvPr/>
        </p:nvSpPr>
        <p:spPr>
          <a:xfrm>
            <a:off x="7747000" y="39370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300">
                <a:solidFill>
                  <a:srgbClr val="FFFFFF"/>
                </a:solidFill>
                <a:latin typeface="Aptos" panose="020B0004020202020204" pitchFamily="34" charset="0"/>
              </a:rPr>
              <a:t>Ascenso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5F3B6BA-110A-7336-78F4-462CFCBBBC9D}"/>
              </a:ext>
            </a:extLst>
          </p:cNvPr>
          <p:cNvSpPr/>
          <p:nvPr/>
        </p:nvSpPr>
        <p:spPr>
          <a:xfrm>
            <a:off x="10134600" y="3340100"/>
            <a:ext cx="304800" cy="3048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60C4AF3-5AE3-8E79-B3F2-E667068D6B6E}"/>
              </a:ext>
            </a:extLst>
          </p:cNvPr>
          <p:cNvSpPr txBox="1"/>
          <p:nvPr/>
        </p:nvSpPr>
        <p:spPr>
          <a:xfrm>
            <a:off x="9588500" y="39370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300">
                <a:solidFill>
                  <a:srgbClr val="FFFFFF"/>
                </a:solidFill>
                <a:latin typeface="Aptos" panose="020B0004020202020204" pitchFamily="34" charset="0"/>
              </a:rPr>
              <a:t>Cierre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F264668-7EAE-1122-E72D-956FA0BA1FD6}"/>
              </a:ext>
            </a:extLst>
          </p:cNvPr>
          <p:cNvSpPr txBox="1"/>
          <p:nvPr/>
        </p:nvSpPr>
        <p:spPr>
          <a:xfrm>
            <a:off x="4635500" y="190500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100" b="1">
                <a:solidFill>
                  <a:srgbClr val="42C8C5"/>
                </a:solidFill>
                <a:latin typeface="Cascadia Mono"/>
              </a:rPr>
              <a:t>Repetición 3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C731700-4487-C4EE-4F2E-18C833A51291}"/>
              </a:ext>
            </a:extLst>
          </p:cNvPr>
          <p:cNvSpPr txBox="1"/>
          <p:nvPr/>
        </p:nvSpPr>
        <p:spPr>
          <a:xfrm>
            <a:off x="2286000" y="5080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400" b="1">
                <a:solidFill>
                  <a:srgbClr val="FFFFFF"/>
                </a:solidFill>
                <a:latin typeface="Aptos Display" panose="020B0004020202020204" pitchFamily="34" charset="0"/>
              </a:rPr>
              <a:t>474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25932F4-F35B-4294-8754-6BD21FC8348C}"/>
              </a:ext>
            </a:extLst>
          </p:cNvPr>
          <p:cNvSpPr txBox="1"/>
          <p:nvPr/>
        </p:nvSpPr>
        <p:spPr>
          <a:xfrm>
            <a:off x="2286000" y="55245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6B7C7E"/>
                </a:solidFill>
                <a:latin typeface="Cascadia Mono"/>
              </a:rPr>
              <a:t>inicio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C99D625-F3C4-7BCC-5E32-4E4FCAE71F7B}"/>
              </a:ext>
            </a:extLst>
          </p:cNvPr>
          <p:cNvSpPr txBox="1"/>
          <p:nvPr/>
        </p:nvSpPr>
        <p:spPr>
          <a:xfrm>
            <a:off x="5588000" y="5080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400" b="1">
                <a:solidFill>
                  <a:srgbClr val="F0B64B"/>
                </a:solidFill>
                <a:latin typeface="Aptos Display" panose="020B0004020202020204" pitchFamily="34" charset="0"/>
              </a:rPr>
              <a:t>592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CAEFEE5-0610-274C-6334-15FEF3F1CFD6}"/>
              </a:ext>
            </a:extLst>
          </p:cNvPr>
          <p:cNvSpPr txBox="1"/>
          <p:nvPr/>
        </p:nvSpPr>
        <p:spPr>
          <a:xfrm>
            <a:off x="5334000" y="55245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6B7C7E"/>
                </a:solidFill>
                <a:latin typeface="Cascadia Mono"/>
              </a:rPr>
              <a:t>profundidad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E08093C-897B-8F5D-4429-652752D99EC2}"/>
              </a:ext>
            </a:extLst>
          </p:cNvPr>
          <p:cNvSpPr txBox="1"/>
          <p:nvPr/>
        </p:nvSpPr>
        <p:spPr>
          <a:xfrm>
            <a:off x="8890000" y="5080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400" b="1">
                <a:solidFill>
                  <a:srgbClr val="FFFFFF"/>
                </a:solidFill>
                <a:latin typeface="Aptos Display" panose="020B0004020202020204" pitchFamily="34" charset="0"/>
              </a:rPr>
              <a:t>621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03357A2-B56F-FAAB-23B2-A4B05F76E9CF}"/>
              </a:ext>
            </a:extLst>
          </p:cNvPr>
          <p:cNvSpPr txBox="1"/>
          <p:nvPr/>
        </p:nvSpPr>
        <p:spPr>
          <a:xfrm>
            <a:off x="8890000" y="55245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6B7C7E"/>
                </a:solidFill>
                <a:latin typeface="Cascadia Mono"/>
              </a:rPr>
              <a:t>final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D82CD03-432D-47F5-9C36-B1ADD5B65944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235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BD96C2-C156-3AAB-CBCD-4B2E483C214F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4 / ESCALA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5BB09B-5298-7B88-C9B4-165441820117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82327"/>
                </a:solidFill>
                <a:latin typeface="Aptos Display" panose="020B0004020202020204" pitchFamily="34" charset="0"/>
              </a:rPr>
              <a:t>W0 transforma píxeles en proporción corporal</a:t>
            </a:r>
            <a:endParaRPr lang="es-PE" sz="2800" b="1">
              <a:solidFill>
                <a:srgbClr val="082327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1AA3F43-40F7-6879-BD50-6ABC0948AE5F}"/>
              </a:ext>
            </a:extLst>
          </p:cNvPr>
          <p:cNvCxnSpPr/>
          <p:nvPr/>
        </p:nvCxnSpPr>
        <p:spPr>
          <a:xfrm>
            <a:off x="1714500" y="3175000"/>
            <a:ext cx="3937000" cy="0"/>
          </a:xfrm>
          <a:prstGeom prst="line">
            <a:avLst/>
          </a:prstGeom>
          <a:ln w="63500">
            <a:solidFill>
              <a:srgbClr val="42C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77C3C13A-3D83-4A76-3298-4C28708F49C4}"/>
              </a:ext>
            </a:extLst>
          </p:cNvPr>
          <p:cNvSpPr/>
          <p:nvPr/>
        </p:nvSpPr>
        <p:spPr>
          <a:xfrm>
            <a:off x="1587500" y="3048000"/>
            <a:ext cx="254000" cy="2540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B37EF94-B8D3-42BB-FC92-857D401E6FF3}"/>
              </a:ext>
            </a:extLst>
          </p:cNvPr>
          <p:cNvSpPr/>
          <p:nvPr/>
        </p:nvSpPr>
        <p:spPr>
          <a:xfrm>
            <a:off x="5524500" y="3048000"/>
            <a:ext cx="254000" cy="254000"/>
          </a:xfrm>
          <a:prstGeom prst="ellipse">
            <a:avLst/>
          </a:prstGeom>
          <a:solidFill>
            <a:srgbClr val="42C8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D2FA6B-4C12-4DB2-6F3B-8C4E47F4B8CD}"/>
              </a:ext>
            </a:extLst>
          </p:cNvPr>
          <p:cNvSpPr txBox="1"/>
          <p:nvPr/>
        </p:nvSpPr>
        <p:spPr>
          <a:xfrm>
            <a:off x="889000" y="36195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200">
                <a:solidFill>
                  <a:srgbClr val="6B7C7E"/>
                </a:solidFill>
                <a:latin typeface="Cascadia Mono"/>
              </a:rPr>
              <a:t>hombro derecho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73B164E-56F3-3A9D-0239-5D8123627C16}"/>
              </a:ext>
            </a:extLst>
          </p:cNvPr>
          <p:cNvSpPr txBox="1"/>
          <p:nvPr/>
        </p:nvSpPr>
        <p:spPr>
          <a:xfrm>
            <a:off x="4635500" y="36195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200">
                <a:solidFill>
                  <a:srgbClr val="6B7C7E"/>
                </a:solidFill>
                <a:latin typeface="Cascadia Mono"/>
              </a:rPr>
              <a:t>hombro izquierdo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7CA662-AC01-C90A-13BF-AF4088B3F667}"/>
              </a:ext>
            </a:extLst>
          </p:cNvPr>
          <p:cNvSpPr txBox="1"/>
          <p:nvPr/>
        </p:nvSpPr>
        <p:spPr>
          <a:xfrm>
            <a:off x="3238500" y="2603500"/>
            <a:ext cx="88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800" b="1">
                <a:solidFill>
                  <a:srgbClr val="082327"/>
                </a:solidFill>
                <a:latin typeface="Aptos Display" panose="020B0004020202020204" pitchFamily="34" charset="0"/>
              </a:rPr>
              <a:t>W0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9DA404E-9EF7-B3D9-C8A4-47CC1C349CDB}"/>
              </a:ext>
            </a:extLst>
          </p:cNvPr>
          <p:cNvSpPr/>
          <p:nvPr/>
        </p:nvSpPr>
        <p:spPr>
          <a:xfrm>
            <a:off x="7175500" y="1968500"/>
            <a:ext cx="4064000" cy="2794000"/>
          </a:xfrm>
          <a:prstGeom prst="roundRect">
            <a:avLst/>
          </a:prstGeom>
          <a:solidFill>
            <a:srgbClr val="082327"/>
          </a:solidFill>
          <a:ln>
            <a:solidFill>
              <a:srgbClr val="0823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4D8A81-0149-4831-CF6C-09338B1F3506}"/>
              </a:ext>
            </a:extLst>
          </p:cNvPr>
          <p:cNvSpPr txBox="1"/>
          <p:nvPr/>
        </p:nvSpPr>
        <p:spPr>
          <a:xfrm>
            <a:off x="7556500" y="2349500"/>
            <a:ext cx="33020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900" b="1">
                <a:solidFill>
                  <a:srgbClr val="FFFFFF"/>
                </a:solidFill>
                <a:latin typeface="Aptos Display" panose="020B0004020202020204" pitchFamily="34" charset="0"/>
              </a:rPr>
              <a:t>W0 = mediana del ancho de hombros
en fotogramas iniciales validos</a:t>
            </a:r>
            <a:endParaRPr lang="es-PE" sz="19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81D3D9F-FEAB-014B-4D5F-68D6D922D034}"/>
              </a:ext>
            </a:extLst>
          </p:cNvPr>
          <p:cNvSpPr txBox="1"/>
          <p:nvPr/>
        </p:nvSpPr>
        <p:spPr>
          <a:xfrm>
            <a:off x="7556500" y="3619500"/>
            <a:ext cx="330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42C8C5"/>
                </a:solidFill>
                <a:latin typeface="Cascadia Mono"/>
              </a:rPr>
              <a:t>0.258264 del ancho de imagen</a:t>
            </a:r>
            <a:endParaRPr lang="es-PE" sz="1500" b="1">
              <a:solidFill>
                <a:srgbClr val="42C8C5"/>
              </a:solidFill>
              <a:latin typeface="Cascadia Mono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CBAD35-E954-E3B5-1421-CC1916C29E5D}"/>
              </a:ext>
            </a:extLst>
          </p:cNvPr>
          <p:cNvSpPr txBox="1"/>
          <p:nvPr/>
        </p:nvSpPr>
        <p:spPr>
          <a:xfrm>
            <a:off x="7556500" y="40894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300" b="1">
                <a:solidFill>
                  <a:srgbClr val="F0B64B"/>
                </a:solidFill>
                <a:latin typeface="Cascadia Mono"/>
              </a:rPr>
              <a:t>~ 123.45 px en 478 px</a:t>
            </a:r>
            <a:endParaRPr lang="es-PE" sz="1300" b="1">
              <a:solidFill>
                <a:srgbClr val="F0B64B"/>
              </a:solidFill>
              <a:latin typeface="Cascadia Mono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A5826F9-F95D-797F-0B56-83F8B123B322}"/>
              </a:ext>
            </a:extLst>
          </p:cNvPr>
          <p:cNvSpPr txBox="1"/>
          <p:nvPr/>
        </p:nvSpPr>
        <p:spPr>
          <a:xfrm>
            <a:off x="2286000" y="5461000"/>
            <a:ext cx="762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E7634D"/>
                </a:solidFill>
                <a:latin typeface="Aptos" panose="020B0004020202020204" pitchFamily="34" charset="0"/>
              </a:rPr>
              <a:t>W0 es inicial; no es el ancho instantaneo en profundidad.</a:t>
            </a:r>
            <a:endParaRPr lang="es-PE" sz="1500" b="1">
              <a:solidFill>
                <a:srgbClr val="E7634D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97C563-3298-2850-FD59-473C258E1D5F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314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2407C86-0F20-3869-334A-0ADFEF55702D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900" b="1">
                <a:solidFill>
                  <a:srgbClr val="42C8C5"/>
                </a:solidFill>
                <a:latin typeface="Cascadia Mono"/>
              </a:rPr>
              <a:t>FASE 4 / TRONCO Y PELVIS</a:t>
            </a:r>
            <a:endParaRPr lang="es-PE" sz="900" b="1">
              <a:solidFill>
                <a:srgbClr val="42C8C5"/>
              </a:solidFill>
              <a:latin typeface="Cascadia Mono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58EC09E-93C7-EEDA-B9E4-E3A31B411447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800" b="1">
                <a:solidFill>
                  <a:srgbClr val="FFFFFF"/>
                </a:solidFill>
                <a:latin typeface="Aptos Display" panose="020B0004020202020204" pitchFamily="34" charset="0"/>
              </a:rPr>
              <a:t>Dos preguntas geometricas distintas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58EB988-50A8-40C9-40B3-ADE7113A6288}"/>
              </a:ext>
            </a:extLst>
          </p:cNvPr>
          <p:cNvSpPr/>
          <p:nvPr/>
        </p:nvSpPr>
        <p:spPr>
          <a:xfrm>
            <a:off x="635000" y="1714500"/>
            <a:ext cx="5143500" cy="4000500"/>
          </a:xfrm>
          <a:prstGeom prst="roundRect">
            <a:avLst/>
          </a:prstGeom>
          <a:solidFill>
            <a:srgbClr val="18383A"/>
          </a:solidFill>
          <a:ln>
            <a:solidFill>
              <a:srgbClr val="42C8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26F287-D2F6-878C-1601-A31B6EABEECF}"/>
              </a:ext>
            </a:extLst>
          </p:cNvPr>
          <p:cNvSpPr txBox="1"/>
          <p:nvPr/>
        </p:nvSpPr>
        <p:spPr>
          <a:xfrm>
            <a:off x="990600" y="20320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42C8C5"/>
                </a:solidFill>
                <a:latin typeface="Cascadia Mono"/>
              </a:rPr>
              <a:t>INCLINACION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3E6894-E148-A85A-BE46-E41116C24CB6}"/>
              </a:ext>
            </a:extLst>
          </p:cNvPr>
          <p:cNvSpPr txBox="1"/>
          <p:nvPr/>
        </p:nvSpPr>
        <p:spPr>
          <a:xfrm>
            <a:off x="990600" y="2451100"/>
            <a:ext cx="2667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500" b="1">
                <a:solidFill>
                  <a:srgbClr val="FFFFFF"/>
                </a:solidFill>
                <a:latin typeface="Aptos Display" panose="020B0004020202020204" pitchFamily="34" charset="0"/>
              </a:rPr>
              <a:t>Tronco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A04E1D-A1AC-7332-2386-96D14CF2C971}"/>
              </a:ext>
            </a:extLst>
          </p:cNvPr>
          <p:cNvSpPr txBox="1"/>
          <p:nvPr/>
        </p:nvSpPr>
        <p:spPr>
          <a:xfrm>
            <a:off x="990600" y="31750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700" b="1">
                <a:solidFill>
                  <a:srgbClr val="F0B64B"/>
                </a:solidFill>
                <a:latin typeface="Cascadia Mono"/>
              </a:rPr>
              <a:t>atan2(Sx - Px, Py - Sy)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F857BE0-C180-594A-ECDF-04EA34CF829A}"/>
              </a:ext>
            </a:extLst>
          </p:cNvPr>
          <p:cNvSpPr txBox="1"/>
          <p:nvPr/>
        </p:nvSpPr>
        <p:spPr>
          <a:xfrm>
            <a:off x="990600" y="3937000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>
                <a:solidFill>
                  <a:srgbClr val="E8E4DA"/>
                </a:solidFill>
                <a:latin typeface="Aptos" panose="020B0004020202020204" pitchFamily="34" charset="0"/>
              </a:rPr>
              <a:t>Orientación respecto de la vertical.
Unidad: grados.</a:t>
            </a:r>
            <a:endParaRPr lang="es-PE">
              <a:solidFill>
                <a:srgbClr val="E8E4DA"/>
              </a:solidFill>
              <a:latin typeface="Aptos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B4A2BE-30FD-F375-323B-973A5EB4B33A}"/>
              </a:ext>
            </a:extLst>
          </p:cNvPr>
          <p:cNvSpPr txBox="1"/>
          <p:nvPr/>
        </p:nvSpPr>
        <p:spPr>
          <a:xfrm>
            <a:off x="990600" y="5080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FFFFFF"/>
                </a:solidFill>
                <a:latin typeface="Aptos Display" panose="020B0004020202020204" pitchFamily="34" charset="0"/>
              </a:rPr>
              <a:t>R3 / 12.38 grados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BF123D7-7461-9E74-A771-69604069F529}"/>
              </a:ext>
            </a:extLst>
          </p:cNvPr>
          <p:cNvSpPr/>
          <p:nvPr/>
        </p:nvSpPr>
        <p:spPr>
          <a:xfrm>
            <a:off x="6413500" y="1714500"/>
            <a:ext cx="5143500" cy="4000500"/>
          </a:xfrm>
          <a:prstGeom prst="roundRect">
            <a:avLst/>
          </a:prstGeom>
          <a:solidFill>
            <a:srgbClr val="18383A"/>
          </a:solidFill>
          <a:ln>
            <a:solidFill>
              <a:srgbClr val="F0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91DCD3-A6CD-DD16-DE6C-657EB25B75BB}"/>
              </a:ext>
            </a:extLst>
          </p:cNvPr>
          <p:cNvSpPr txBox="1"/>
          <p:nvPr/>
        </p:nvSpPr>
        <p:spPr>
          <a:xfrm>
            <a:off x="6769100" y="20320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F0B64B"/>
                </a:solidFill>
                <a:latin typeface="Cascadia Mono"/>
              </a:rPr>
              <a:t>DESPLAZAMIENTO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B3F0B4D-ED85-3A87-5CB6-C3A139FD198F}"/>
              </a:ext>
            </a:extLst>
          </p:cNvPr>
          <p:cNvSpPr txBox="1"/>
          <p:nvPr/>
        </p:nvSpPr>
        <p:spPr>
          <a:xfrm>
            <a:off x="6769100" y="2451100"/>
            <a:ext cx="2667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500" b="1">
                <a:solidFill>
                  <a:srgbClr val="FFFFFF"/>
                </a:solidFill>
                <a:latin typeface="Aptos Display" panose="020B0004020202020204" pitchFamily="34" charset="0"/>
              </a:rPr>
              <a:t>Pelvis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CEE2951-C083-E411-5FED-4A4A312B63FE}"/>
              </a:ext>
            </a:extLst>
          </p:cNvPr>
          <p:cNvSpPr txBox="1"/>
          <p:nvPr/>
        </p:nvSpPr>
        <p:spPr>
          <a:xfrm>
            <a:off x="6769100" y="3175000"/>
            <a:ext cx="419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600" b="1">
                <a:solidFill>
                  <a:srgbClr val="42C8C5"/>
                </a:solidFill>
                <a:latin typeface="Cascadia Mono"/>
              </a:rPr>
              <a:t>100 x (offset actual - inicial) / W0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18058A0-B06E-1A66-8D20-FE15ED95D0D3}"/>
              </a:ext>
            </a:extLst>
          </p:cNvPr>
          <p:cNvSpPr txBox="1"/>
          <p:nvPr/>
        </p:nvSpPr>
        <p:spPr>
          <a:xfrm>
            <a:off x="6769100" y="3937000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>
                <a:solidFill>
                  <a:srgbClr val="E8E4DA"/>
                </a:solidFill>
                <a:latin typeface="Aptos" panose="020B0004020202020204" pitchFamily="34" charset="0"/>
              </a:rPr>
              <a:t>Traslación lateral corregida.
Unidad: % de W0.</a:t>
            </a:r>
            <a:endParaRPr lang="es-PE">
              <a:solidFill>
                <a:srgbClr val="E8E4D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A372F0-9243-6974-74AC-B34E8F734D64}"/>
              </a:ext>
            </a:extLst>
          </p:cNvPr>
          <p:cNvSpPr txBox="1"/>
          <p:nvPr/>
        </p:nvSpPr>
        <p:spPr>
          <a:xfrm>
            <a:off x="6769100" y="5080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FFFFFF"/>
                </a:solidFill>
                <a:latin typeface="Aptos Display" panose="020B0004020202020204" pitchFamily="34" charset="0"/>
              </a:rPr>
              <a:t>R3 / 9.55 %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1EBB2C8-952C-517F-0C51-7B06394D4A42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859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DF7B3A-381E-197C-E24B-5AB0AF114ECB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4 / RODILLA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1AA021-95B3-C6E3-A5FE-FA7C6E1B0F0D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800" b="1">
                <a:solidFill>
                  <a:srgbClr val="082327"/>
                </a:solidFill>
                <a:latin typeface="Aptos Display" panose="020B0004020202020204" pitchFamily="34" charset="0"/>
              </a:rPr>
              <a:t>Interpolacion espacial cadera-rodilla-tobillo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9527BB-8250-8545-EA8E-F87CEC259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701" y="2327158"/>
            <a:ext cx="1810599" cy="32196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CB1E4A8-BDE7-B75D-07F7-1653D29F8E40}"/>
              </a:ext>
            </a:extLst>
          </p:cNvPr>
          <p:cNvSpPr/>
          <p:nvPr/>
        </p:nvSpPr>
        <p:spPr>
          <a:xfrm>
            <a:off x="5016500" y="1587500"/>
            <a:ext cx="6667500" cy="4699000"/>
          </a:xfrm>
          <a:prstGeom prst="roundRect">
            <a:avLst/>
          </a:prstGeom>
          <a:solidFill>
            <a:srgbClr val="082327"/>
          </a:solidFill>
          <a:ln>
            <a:solidFill>
              <a:srgbClr val="0823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31508D-12C2-B9DF-A3C8-8ACA1F733C31}"/>
              </a:ext>
            </a:extLst>
          </p:cNvPr>
          <p:cNvSpPr txBox="1"/>
          <p:nvPr/>
        </p:nvSpPr>
        <p:spPr>
          <a:xfrm>
            <a:off x="5397500" y="1905000"/>
            <a:ext cx="571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200" b="1">
                <a:solidFill>
                  <a:srgbClr val="42C8C5"/>
                </a:solidFill>
                <a:latin typeface="Cascadia Mono"/>
              </a:rPr>
              <a:t>H = (0.607777, 0.750241)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FF71AB-9D07-53FB-1BB7-EE4FFA5D9E72}"/>
              </a:ext>
            </a:extLst>
          </p:cNvPr>
          <p:cNvSpPr txBox="1"/>
          <p:nvPr/>
        </p:nvSpPr>
        <p:spPr>
          <a:xfrm>
            <a:off x="5397500" y="2260600"/>
            <a:ext cx="571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200" b="1">
                <a:solidFill>
                  <a:srgbClr val="FFFFFF"/>
                </a:solidFill>
                <a:latin typeface="Cascadia Mono"/>
              </a:rPr>
              <a:t>K = (0.544360, 0.812981)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5BF177-77AE-A15A-E3A2-FC6A0806B0AB}"/>
              </a:ext>
            </a:extLst>
          </p:cNvPr>
          <p:cNvSpPr txBox="1"/>
          <p:nvPr/>
        </p:nvSpPr>
        <p:spPr>
          <a:xfrm>
            <a:off x="5397500" y="2616200"/>
            <a:ext cx="571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200" b="1">
                <a:solidFill>
                  <a:srgbClr val="F0B64B"/>
                </a:solidFill>
                <a:latin typeface="Cascadia Mono"/>
              </a:rPr>
              <a:t>A = (0.621215, 0.869815)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59533BA-99AB-5D72-686E-A551269595D9}"/>
              </a:ext>
            </a:extLst>
          </p:cNvPr>
          <p:cNvCxnSpPr/>
          <p:nvPr/>
        </p:nvCxnSpPr>
        <p:spPr>
          <a:xfrm>
            <a:off x="5397500" y="3111500"/>
            <a:ext cx="5715000" cy="0"/>
          </a:xfrm>
          <a:prstGeom prst="line">
            <a:avLst/>
          </a:prstGeom>
          <a:ln w="25400">
            <a:solidFill>
              <a:srgbClr val="18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6BA999-A5A3-C2F6-8CB6-E6AA26418375}"/>
              </a:ext>
            </a:extLst>
          </p:cNvPr>
          <p:cNvSpPr txBox="1"/>
          <p:nvPr/>
        </p:nvSpPr>
        <p:spPr>
          <a:xfrm>
            <a:off x="5397500" y="34036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400" b="1">
                <a:solidFill>
                  <a:srgbClr val="FFFFFF"/>
                </a:solidFill>
                <a:latin typeface="Cascadia Mono"/>
              </a:rPr>
              <a:t>1  t = (Ky - Hy) / (Ay - Hy) = 0.524693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B59BBB2-C9ED-660D-08AC-3D763D3E189A}"/>
              </a:ext>
            </a:extLst>
          </p:cNvPr>
          <p:cNvSpPr txBox="1"/>
          <p:nvPr/>
        </p:nvSpPr>
        <p:spPr>
          <a:xfrm>
            <a:off x="5397500" y="39116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Cascadia Mono"/>
              </a:rPr>
              <a:t>2  Kx* = Hx + t(Ax - Hx) = 0.614828</a:t>
            </a:r>
            <a:endParaRPr lang="es-PE" sz="1400" b="1">
              <a:solidFill>
                <a:srgbClr val="FFFFFF"/>
              </a:solidFill>
              <a:latin typeface="Cascadia Mono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B79BDFE-AB73-C0E6-CEBB-C64994FD56B7}"/>
              </a:ext>
            </a:extLst>
          </p:cNvPr>
          <p:cNvSpPr txBox="1"/>
          <p:nvPr/>
        </p:nvSpPr>
        <p:spPr>
          <a:xfrm>
            <a:off x="5397500" y="44196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400" b="1">
                <a:solidFill>
                  <a:srgbClr val="FFFFFF"/>
                </a:solidFill>
                <a:latin typeface="Cascadia Mono"/>
              </a:rPr>
              <a:t>3  100 x signo medial x (Kx - Kx*) / W0</a:t>
            </a:r>
            <a:endParaRPr lang="es-PE" sz="1400" b="1">
              <a:solidFill>
                <a:srgbClr val="FFFFFF"/>
              </a:solidFill>
              <a:latin typeface="Cascadia Mono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E453004-8986-B93C-947F-5E409050C915}"/>
              </a:ext>
            </a:extLst>
          </p:cNvPr>
          <p:cNvSpPr/>
          <p:nvPr/>
        </p:nvSpPr>
        <p:spPr>
          <a:xfrm>
            <a:off x="5397500" y="5080000"/>
            <a:ext cx="5715000" cy="736600"/>
          </a:xfrm>
          <a:prstGeom prst="roundRect">
            <a:avLst/>
          </a:prstGeom>
          <a:solidFill>
            <a:srgbClr val="E7634D"/>
          </a:solidFill>
          <a:ln>
            <a:solidFill>
              <a:srgbClr val="E76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71C45F-1345-104E-50B0-0BB4C1375C49}"/>
              </a:ext>
            </a:extLst>
          </p:cNvPr>
          <p:cNvSpPr txBox="1"/>
          <p:nvPr/>
        </p:nvSpPr>
        <p:spPr>
          <a:xfrm>
            <a:off x="5651500" y="52959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b="1">
                <a:solidFill>
                  <a:srgbClr val="FFFFFF"/>
                </a:solidFill>
                <a:latin typeface="Aptos Display" panose="020B0004020202020204" pitchFamily="34" charset="0"/>
              </a:rPr>
              <a:t>Rodilla izquierda / 27.29 % de W0</a:t>
            </a:r>
            <a:endParaRPr lang="es-PE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1E311F3-DDA0-732F-60AF-4EF9C49963B1}"/>
              </a:ext>
            </a:extLst>
          </p:cNvPr>
          <p:cNvSpPr txBox="1"/>
          <p:nvPr/>
        </p:nvSpPr>
        <p:spPr>
          <a:xfrm>
            <a:off x="5461000" y="5969000"/>
            <a:ext cx="558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F0B64B"/>
                </a:solidFill>
                <a:latin typeface="Cascadia Mono"/>
              </a:rPr>
              <a:t>Interpolacion espacial != interpolacion temporal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B6D5C29-1C5E-C22D-7912-77C391BADECF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5618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0C0F8D9-F80B-2993-C73C-3546D7E3AB43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FASE 5 / REGLAS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16AA28-08EB-94A6-29EB-425004E8B8C7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2800" b="1">
                <a:solidFill>
                  <a:srgbClr val="FFFFFF"/>
                </a:solidFill>
                <a:latin typeface="Aptos Display" panose="020B0004020202020204" pitchFamily="34" charset="0"/>
              </a:rPr>
              <a:t>Medir no es todavia clasificar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C345C5-4027-3CEF-A840-9A028182BC3B}"/>
              </a:ext>
            </a:extLst>
          </p:cNvPr>
          <p:cNvSpPr txBox="1"/>
          <p:nvPr/>
        </p:nvSpPr>
        <p:spPr>
          <a:xfrm>
            <a:off x="952500" y="19685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42C8C5"/>
                </a:solidFill>
                <a:latin typeface="Cascadia Mono"/>
              </a:rPr>
              <a:t>VALOR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B1524A-9A3A-E498-4660-503E5F379AA8}"/>
              </a:ext>
            </a:extLst>
          </p:cNvPr>
          <p:cNvSpPr txBox="1"/>
          <p:nvPr/>
        </p:nvSpPr>
        <p:spPr>
          <a:xfrm>
            <a:off x="952500" y="2387600"/>
            <a:ext cx="190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3000" b="1">
                <a:solidFill>
                  <a:srgbClr val="FFFFFF"/>
                </a:solidFill>
                <a:latin typeface="Aptos Display" panose="020B0004020202020204" pitchFamily="34" charset="0"/>
              </a:rPr>
              <a:t>27.29 %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C56FC02-E9F2-E540-32F6-A16328D6B7C4}"/>
              </a:ext>
            </a:extLst>
          </p:cNvPr>
          <p:cNvCxnSpPr/>
          <p:nvPr/>
        </p:nvCxnSpPr>
        <p:spPr>
          <a:xfrm>
            <a:off x="2984500" y="2603500"/>
            <a:ext cx="1079500" cy="0"/>
          </a:xfrm>
          <a:prstGeom prst="line">
            <a:avLst/>
          </a:prstGeom>
          <a:ln w="508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A8456EC-B9E2-2BA8-A83C-20B8F0FAF55D}"/>
              </a:ext>
            </a:extLst>
          </p:cNvPr>
          <p:cNvSpPr txBox="1"/>
          <p:nvPr/>
        </p:nvSpPr>
        <p:spPr>
          <a:xfrm>
            <a:off x="4254500" y="1968500"/>
            <a:ext cx="317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F0B64B"/>
                </a:solidFill>
                <a:latin typeface="Cascadia Mono"/>
              </a:rPr>
              <a:t>REGLA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CBD353-0A1B-E4A8-B248-52A4C34A4211}"/>
              </a:ext>
            </a:extLst>
          </p:cNvPr>
          <p:cNvSpPr txBox="1"/>
          <p:nvPr/>
        </p:nvSpPr>
        <p:spPr>
          <a:xfrm>
            <a:off x="4254500" y="2387600"/>
            <a:ext cx="381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2000" b="1">
                <a:solidFill>
                  <a:srgbClr val="FFFFFF"/>
                </a:solidFill>
                <a:latin typeface="Aptos Display" panose="020B0004020202020204" pitchFamily="34" charset="0"/>
              </a:rPr>
              <a:t>ausente / no concluyente / presente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F5C3D55-B144-D748-0180-BEB458F44E01}"/>
              </a:ext>
            </a:extLst>
          </p:cNvPr>
          <p:cNvCxnSpPr/>
          <p:nvPr/>
        </p:nvCxnSpPr>
        <p:spPr>
          <a:xfrm>
            <a:off x="8255000" y="2603500"/>
            <a:ext cx="1079500" cy="0"/>
          </a:xfrm>
          <a:prstGeom prst="line">
            <a:avLst/>
          </a:prstGeom>
          <a:ln w="50800">
            <a:solidFill>
              <a:srgbClr val="F0B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B05CCA8-0AFB-CF1E-3371-6F2D229E18A9}"/>
              </a:ext>
            </a:extLst>
          </p:cNvPr>
          <p:cNvSpPr txBox="1"/>
          <p:nvPr/>
        </p:nvSpPr>
        <p:spPr>
          <a:xfrm>
            <a:off x="9525000" y="19685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1000" b="1">
                <a:solidFill>
                  <a:srgbClr val="E7634D"/>
                </a:solidFill>
                <a:latin typeface="Cascadia Mono"/>
              </a:rPr>
              <a:t>SALIDA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AA84A04-4BB2-6E2F-A2B5-956459EB17BD}"/>
              </a:ext>
            </a:extLst>
          </p:cNvPr>
          <p:cNvSpPr txBox="1"/>
          <p:nvPr/>
        </p:nvSpPr>
        <p:spPr>
          <a:xfrm>
            <a:off x="9525000" y="2387600"/>
            <a:ext cx="190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PE" sz="3000" b="1">
                <a:solidFill>
                  <a:srgbClr val="FFFFFF"/>
                </a:solidFill>
                <a:latin typeface="Aptos Display" panose="020B0004020202020204" pitchFamily="34" charset="0"/>
              </a:rPr>
              <a:t>Presente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0820B1B-D3CB-8369-1259-A651B6B404E3}"/>
              </a:ext>
            </a:extLst>
          </p:cNvPr>
          <p:cNvSpPr/>
          <p:nvPr/>
        </p:nvSpPr>
        <p:spPr>
          <a:xfrm>
            <a:off x="1079500" y="3937000"/>
            <a:ext cx="10033000" cy="1333500"/>
          </a:xfrm>
          <a:prstGeom prst="roundRect">
            <a:avLst/>
          </a:prstGeom>
          <a:solidFill>
            <a:srgbClr val="18383A"/>
          </a:solidFill>
          <a:ln>
            <a:solidFill>
              <a:srgbClr val="1838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B3B798E-74B5-A14B-431F-42937C8D0E2E}"/>
              </a:ext>
            </a:extLst>
          </p:cNvPr>
          <p:cNvSpPr txBox="1"/>
          <p:nvPr/>
        </p:nvSpPr>
        <p:spPr>
          <a:xfrm>
            <a:off x="1460500" y="4216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b="1">
                <a:solidFill>
                  <a:srgbClr val="E7634D"/>
                </a:solidFill>
                <a:latin typeface="Aptos Display" panose="020B0004020202020204" pitchFamily="34" charset="0"/>
              </a:rPr>
              <a:t>Los umbrales son provisiónales.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EC86BE3-8759-EED9-6E13-72453051DBD4}"/>
              </a:ext>
            </a:extLst>
          </p:cNvPr>
          <p:cNvSpPr txBox="1"/>
          <p:nvPr/>
        </p:nvSpPr>
        <p:spPr>
          <a:xfrm>
            <a:off x="1460500" y="4699000"/>
            <a:ext cx="9017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>
                <a:solidFill>
                  <a:srgbClr val="E8E4DA"/>
                </a:solidFill>
                <a:latin typeface="Aptos" panose="020B0004020202020204" pitchFamily="34" charset="0"/>
              </a:rPr>
              <a:t>La validez se estima frente a referencia experta mediante F1-score y concordancia; no por aceptar el resultado del sistema como verdad.</a:t>
            </a:r>
            <a:endParaRPr lang="es-PE" sz="1500">
              <a:solidFill>
                <a:srgbClr val="E8E4D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0B9A59-A616-08B0-65F2-77B59C84830C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3532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3554DE-D114-FC19-4DCF-D060572E2B67}"/>
              </a:ext>
            </a:extLst>
          </p:cNvPr>
          <p:cNvSpPr txBox="1"/>
          <p:nvPr/>
        </p:nvSpPr>
        <p:spPr>
          <a:xfrm>
            <a:off x="508000" y="304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900" b="1">
                <a:solidFill>
                  <a:srgbClr val="42C8C5"/>
                </a:solidFill>
                <a:latin typeface="Cascadia Mono"/>
              </a:rPr>
              <a:t>DEMOSTRACION WEB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256162-3C19-8402-AA00-8C9B4F7B4562}"/>
              </a:ext>
            </a:extLst>
          </p:cNvPr>
          <p:cNvSpPr txBox="1"/>
          <p:nvPr/>
        </p:nvSpPr>
        <p:spPr>
          <a:xfrm>
            <a:off x="508000" y="6096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82327"/>
                </a:solidFill>
                <a:latin typeface="Aptos Display" panose="020B0004020202020204" pitchFamily="34" charset="0"/>
              </a:rPr>
              <a:t>Seis pasos para auditar un resultado</a:t>
            </a:r>
            <a:endParaRPr lang="es-PE" sz="2800" b="1">
              <a:solidFill>
                <a:srgbClr val="082327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462F671-E2E8-0BF2-07BE-4DE1A3B4D52C}"/>
              </a:ext>
            </a:extLst>
          </p:cNvPr>
          <p:cNvSpPr/>
          <p:nvPr/>
        </p:nvSpPr>
        <p:spPr>
          <a:xfrm>
            <a:off x="698500" y="1841500"/>
            <a:ext cx="3302000" cy="1295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F5B732-80F3-EE5A-31B5-D186E26BA8DE}"/>
              </a:ext>
            </a:extLst>
          </p:cNvPr>
          <p:cNvSpPr txBox="1"/>
          <p:nvPr/>
        </p:nvSpPr>
        <p:spPr>
          <a:xfrm>
            <a:off x="927100" y="20447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E7634D"/>
                </a:solidFill>
                <a:latin typeface="Cascadia Mono"/>
              </a:rPr>
              <a:t>01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31D2C5-CBA1-EE15-E681-2D55B814B874}"/>
              </a:ext>
            </a:extLst>
          </p:cNvPr>
          <p:cNvSpPr txBox="1"/>
          <p:nvPr/>
        </p:nvSpPr>
        <p:spPr>
          <a:xfrm>
            <a:off x="927100" y="24511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600" b="1">
                <a:solidFill>
                  <a:srgbClr val="082327"/>
                </a:solidFill>
                <a:latin typeface="Aptos Display" panose="020B0004020202020204" pitchFamily="34" charset="0"/>
              </a:rPr>
              <a:t>Seleccionar repetición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7B1A503-14FE-7774-7523-1EE366D6860D}"/>
              </a:ext>
            </a:extLst>
          </p:cNvPr>
          <p:cNvSpPr/>
          <p:nvPr/>
        </p:nvSpPr>
        <p:spPr>
          <a:xfrm>
            <a:off x="4508500" y="1841500"/>
            <a:ext cx="3302000" cy="1295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9DAB99-E734-1138-3EDF-9C669152EAE0}"/>
              </a:ext>
            </a:extLst>
          </p:cNvPr>
          <p:cNvSpPr txBox="1"/>
          <p:nvPr/>
        </p:nvSpPr>
        <p:spPr>
          <a:xfrm>
            <a:off x="4737100" y="20447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E7634D"/>
                </a:solidFill>
                <a:latin typeface="Cascadia Mono"/>
              </a:rPr>
              <a:t>02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87AB31-12A5-8006-A305-EE53FE64F30D}"/>
              </a:ext>
            </a:extLst>
          </p:cNvPr>
          <p:cNvSpPr txBox="1"/>
          <p:nvPr/>
        </p:nvSpPr>
        <p:spPr>
          <a:xfrm>
            <a:off x="4737100" y="24511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600" b="1">
                <a:solidFill>
                  <a:srgbClr val="082327"/>
                </a:solidFill>
                <a:latin typeface="Aptos Display" panose="020B0004020202020204" pitchFamily="34" charset="0"/>
              </a:rPr>
              <a:t>Confirmar pose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6830C90-4F68-B6B0-30BC-467D3B9672B6}"/>
              </a:ext>
            </a:extLst>
          </p:cNvPr>
          <p:cNvSpPr/>
          <p:nvPr/>
        </p:nvSpPr>
        <p:spPr>
          <a:xfrm>
            <a:off x="8318500" y="1841500"/>
            <a:ext cx="3302000" cy="1295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FA0CE1-DF4A-C419-5ADB-67676A2805AA}"/>
              </a:ext>
            </a:extLst>
          </p:cNvPr>
          <p:cNvSpPr txBox="1"/>
          <p:nvPr/>
        </p:nvSpPr>
        <p:spPr>
          <a:xfrm>
            <a:off x="8547100" y="20447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E7634D"/>
                </a:solidFill>
                <a:latin typeface="Cascadia Mono"/>
              </a:rPr>
              <a:t>03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CEF681-3328-2B2A-4B18-C08C94F63921}"/>
              </a:ext>
            </a:extLst>
          </p:cNvPr>
          <p:cNvSpPr txBox="1"/>
          <p:nvPr/>
        </p:nvSpPr>
        <p:spPr>
          <a:xfrm>
            <a:off x="8547100" y="24511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600" b="1">
                <a:solidFill>
                  <a:srgbClr val="082327"/>
                </a:solidFill>
                <a:latin typeface="Aptos Display" panose="020B0004020202020204" pitchFamily="34" charset="0"/>
              </a:rPr>
              <a:t>Ubicar profundidad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315A5EA-9A05-B7E1-B886-F1FE65063219}"/>
              </a:ext>
            </a:extLst>
          </p:cNvPr>
          <p:cNvSpPr/>
          <p:nvPr/>
        </p:nvSpPr>
        <p:spPr>
          <a:xfrm>
            <a:off x="698500" y="3556000"/>
            <a:ext cx="3302000" cy="1295400"/>
          </a:xfrm>
          <a:prstGeom prst="roundRect">
            <a:avLst/>
          </a:prstGeom>
          <a:solidFill>
            <a:srgbClr val="082327"/>
          </a:solidFill>
          <a:ln>
            <a:solidFill>
              <a:srgbClr val="0823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574ADF-D7C4-644B-B4CF-5D8302E51841}"/>
              </a:ext>
            </a:extLst>
          </p:cNvPr>
          <p:cNvSpPr txBox="1"/>
          <p:nvPr/>
        </p:nvSpPr>
        <p:spPr>
          <a:xfrm>
            <a:off x="927100" y="37592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42C8C5"/>
                </a:solidFill>
                <a:latin typeface="Cascadia Mono"/>
              </a:rPr>
              <a:t>04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199C20C-0C0D-78C2-76CD-04B19E8018AE}"/>
              </a:ext>
            </a:extLst>
          </p:cNvPr>
          <p:cNvSpPr txBox="1"/>
          <p:nvPr/>
        </p:nvSpPr>
        <p:spPr>
          <a:xfrm>
            <a:off x="927100" y="41656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600" b="1">
                <a:solidFill>
                  <a:srgbClr val="FFFFFF"/>
                </a:solidFill>
                <a:latin typeface="Aptos Display" panose="020B0004020202020204" pitchFamily="34" charset="0"/>
              </a:rPr>
              <a:t>Abrir geometría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88B753A-E743-ABFB-B671-A26879A472F9}"/>
              </a:ext>
            </a:extLst>
          </p:cNvPr>
          <p:cNvSpPr/>
          <p:nvPr/>
        </p:nvSpPr>
        <p:spPr>
          <a:xfrm>
            <a:off x="4508500" y="3556000"/>
            <a:ext cx="3302000" cy="1295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3B12C64-9912-4D6A-5003-B1AC8908321E}"/>
              </a:ext>
            </a:extLst>
          </p:cNvPr>
          <p:cNvSpPr txBox="1"/>
          <p:nvPr/>
        </p:nvSpPr>
        <p:spPr>
          <a:xfrm>
            <a:off x="4737100" y="37592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E7634D"/>
                </a:solidFill>
                <a:latin typeface="Cascadia Mono"/>
              </a:rPr>
              <a:t>05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4A857D2-6449-67BF-1C4C-2D851EF2CAD3}"/>
              </a:ext>
            </a:extLst>
          </p:cNvPr>
          <p:cNvSpPr txBox="1"/>
          <p:nvPr/>
        </p:nvSpPr>
        <p:spPr>
          <a:xfrm>
            <a:off x="4737100" y="41656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600" b="1">
                <a:solidFill>
                  <a:srgbClr val="082327"/>
                </a:solidFill>
                <a:latin typeface="Aptos Display" panose="020B0004020202020204" pitchFamily="34" charset="0"/>
              </a:rPr>
              <a:t>Ver regla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1087F2C1-6E77-CAE4-0BCC-3511E0EFEAB4}"/>
              </a:ext>
            </a:extLst>
          </p:cNvPr>
          <p:cNvSpPr/>
          <p:nvPr/>
        </p:nvSpPr>
        <p:spPr>
          <a:xfrm>
            <a:off x="8318500" y="3556000"/>
            <a:ext cx="3302000" cy="1295400"/>
          </a:xfrm>
          <a:prstGeom prst="roundRect">
            <a:avLst/>
          </a:prstGeom>
          <a:solidFill>
            <a:srgbClr val="FFFFFF"/>
          </a:solidFill>
          <a:ln>
            <a:solidFill>
              <a:srgbClr val="D7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75D7DF-7698-8BDE-B787-D7031A4567D1}"/>
              </a:ext>
            </a:extLst>
          </p:cNvPr>
          <p:cNvSpPr txBox="1"/>
          <p:nvPr/>
        </p:nvSpPr>
        <p:spPr>
          <a:xfrm>
            <a:off x="8547100" y="37592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E7634D"/>
                </a:solidFill>
                <a:latin typeface="Cascadia Mono"/>
              </a:rPr>
              <a:t>06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31DE521-3AD8-41B0-7F92-CFE54D3E734E}"/>
              </a:ext>
            </a:extLst>
          </p:cNvPr>
          <p:cNvSpPr txBox="1"/>
          <p:nvPr/>
        </p:nvSpPr>
        <p:spPr>
          <a:xfrm>
            <a:off x="8547100" y="41656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600" b="1">
                <a:solidFill>
                  <a:srgbClr val="082327"/>
                </a:solidFill>
                <a:latin typeface="Aptos Display" panose="020B0004020202020204" pitchFamily="34" charset="0"/>
              </a:rPr>
              <a:t>Descargar evidencia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9E9CBAE-B38B-BBE5-5C98-FB10F5946ECF}"/>
              </a:ext>
            </a:extLst>
          </p:cNvPr>
          <p:cNvSpPr txBox="1"/>
          <p:nvPr/>
        </p:nvSpPr>
        <p:spPr>
          <a:xfrm>
            <a:off x="1333500" y="5778500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42C8C5"/>
                </a:solidFill>
                <a:latin typeface="Cascadia Mono"/>
              </a:rPr>
              <a:t>Video + cursor + fotograma + coordenadas + fórmula + clasificación</a:t>
            </a:r>
            <a:endParaRPr lang="es-PE" sz="1500" b="1">
              <a:solidFill>
                <a:srgbClr val="42C8C5"/>
              </a:solidFill>
              <a:latin typeface="Cascadia Mono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BE6EED2-936D-F4F7-3638-3F2086DB7AFF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6B7C7E"/>
                </a:solidFill>
                <a:latin typeface="Cascadia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88173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D359133-0589-52A3-7D84-FC8373058125}"/>
              </a:ext>
            </a:extLst>
          </p:cNvPr>
          <p:cNvSpPr txBox="1"/>
          <p:nvPr/>
        </p:nvSpPr>
        <p:spPr>
          <a:xfrm>
            <a:off x="698500" y="6985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42C8C5"/>
                </a:solidFill>
                <a:latin typeface="Cascadia Mono"/>
              </a:rPr>
              <a:t>CONCLUSION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BB4160-C4AA-8CAE-D066-0E9C34C29A08}"/>
              </a:ext>
            </a:extLst>
          </p:cNvPr>
          <p:cNvSpPr txBox="1"/>
          <p:nvPr/>
        </p:nvSpPr>
        <p:spPr>
          <a:xfrm>
            <a:off x="698500" y="1333500"/>
            <a:ext cx="9652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3600" b="1">
                <a:solidFill>
                  <a:srgbClr val="FFFFFF"/>
                </a:solidFill>
                <a:latin typeface="Aptos Display" panose="020B0004020202020204" pitchFamily="34" charset="0"/>
              </a:rPr>
              <a:t>El sistema hace medible
y auditable una observación.</a:t>
            </a:r>
            <a:endParaRPr lang="es-PE" sz="36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CE840D2-74F6-3FD9-D461-3D1987B938AA}"/>
              </a:ext>
            </a:extLst>
          </p:cNvPr>
          <p:cNvSpPr txBox="1"/>
          <p:nvPr/>
        </p:nvSpPr>
        <p:spPr>
          <a:xfrm>
            <a:off x="736600" y="3111500"/>
            <a:ext cx="825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000">
                <a:solidFill>
                  <a:srgbClr val="E8E4DA"/>
                </a:solidFill>
                <a:latin typeface="Aptos" panose="020B0004020202020204" pitchFamily="34" charset="0"/>
              </a:rPr>
              <a:t>No diagnóstica patologías. No infiere causas anatómicas. No reemplaza una evaluación clínica.</a:t>
            </a:r>
            <a:endParaRPr lang="es-PE" sz="2000">
              <a:solidFill>
                <a:srgbClr val="E8E4DA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83009D6-16E1-0B51-39A0-3B157E9CCC82}"/>
              </a:ext>
            </a:extLst>
          </p:cNvPr>
          <p:cNvCxnSpPr/>
          <p:nvPr/>
        </p:nvCxnSpPr>
        <p:spPr>
          <a:xfrm>
            <a:off x="736600" y="4381500"/>
            <a:ext cx="10248900" cy="0"/>
          </a:xfrm>
          <a:prstGeom prst="line">
            <a:avLst/>
          </a:prstGeom>
          <a:ln w="38100">
            <a:solidFill>
              <a:srgbClr val="18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448FDFC-BC2E-5338-3312-40F66FA1848D}"/>
              </a:ext>
            </a:extLst>
          </p:cNvPr>
          <p:cNvSpPr txBox="1"/>
          <p:nvPr/>
        </p:nvSpPr>
        <p:spPr>
          <a:xfrm>
            <a:off x="736600" y="48514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PE" sz="1000" b="1">
                <a:solidFill>
                  <a:srgbClr val="42C8C5"/>
                </a:solidFill>
                <a:latin typeface="Cascadia Mono"/>
              </a:rPr>
              <a:t>DETECTA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7440F2-BB52-FFDE-6459-5CA883D91952}"/>
              </a:ext>
            </a:extLst>
          </p:cNvPr>
          <p:cNvSpPr txBox="1"/>
          <p:nvPr/>
        </p:nvSpPr>
        <p:spPr>
          <a:xfrm>
            <a:off x="736600" y="5270500"/>
            <a:ext cx="889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900" b="1">
                <a:solidFill>
                  <a:srgbClr val="FFFFFF"/>
                </a:solidFill>
                <a:latin typeface="Aptos Display" panose="020B0004020202020204" pitchFamily="34" charset="0"/>
              </a:rPr>
              <a:t>pose / repeticiónes / geometría / patrones observables</a:t>
            </a:r>
            <a:endParaRPr lang="es-PE" sz="19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8A0551-FFBA-6DE0-118A-8A191CFA9945}"/>
              </a:ext>
            </a:extLst>
          </p:cNvPr>
          <p:cNvSpPr txBox="1"/>
          <p:nvPr/>
        </p:nvSpPr>
        <p:spPr>
          <a:xfrm>
            <a:off x="9652000" y="48514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1000" b="1">
                <a:solidFill>
                  <a:srgbClr val="F0B64B"/>
                </a:solidFill>
                <a:latin typeface="Cascadia Mono"/>
              </a:rPr>
              <a:t>VALIDA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097D85-9206-5947-2419-42DC5B6D3BA1}"/>
              </a:ext>
            </a:extLst>
          </p:cNvPr>
          <p:cNvSpPr txBox="1"/>
          <p:nvPr/>
        </p:nvSpPr>
        <p:spPr>
          <a:xfrm>
            <a:off x="8890000" y="52705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1500" b="1">
                <a:solidFill>
                  <a:srgbClr val="FFFFFF"/>
                </a:solidFill>
                <a:latin typeface="Aptos Display" panose="020B0004020202020204" pitchFamily="34" charset="0"/>
              </a:rPr>
              <a:t>frente a expertos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A372F3-33FC-C715-BB4E-60A464A79D18}"/>
              </a:ext>
            </a:extLst>
          </p:cNvPr>
          <p:cNvSpPr txBox="1"/>
          <p:nvPr/>
        </p:nvSpPr>
        <p:spPr>
          <a:xfrm>
            <a:off x="11430000" y="65278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PE" sz="800" b="1">
                <a:solidFill>
                  <a:srgbClr val="42C8C5"/>
                </a:solidFill>
                <a:latin typeface="Cascadia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14150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1402</Words>
  <Application>Microsoft Office PowerPoint</Application>
  <PresentationFormat>Personalizado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Cascadia Mono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Chapoñan</dc:creator>
  <cp:lastModifiedBy>Elias Chapoñan</cp:lastModifiedBy>
  <cp:revision>1</cp:revision>
  <dcterms:created xsi:type="dcterms:W3CDTF">2026-08-09T09:46:01Z</dcterms:created>
  <dcterms:modified xsi:type="dcterms:W3CDTF">2026-08-09T09:46:01Z</dcterms:modified>
</cp:coreProperties>
</file>